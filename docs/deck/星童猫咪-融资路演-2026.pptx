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情绪强度</c:v>
                </c:pt>
              </c:strCache>
            </c:strRef>
          </c:tx>
          <c:spPr>
            <a:solidFill>
              <a:srgbClr val="E08A1E"/>
            </a:solidFill>
            <a:ln w="3810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B272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开场</c:v>
                  </c:pt>
                  <c:pt idx="1">
                    <c:v>家长威胁</c:v>
                  </c:pt>
                  <c:pt idx="2">
                    <c:v>情绪升级</c:v>
                  </c:pt>
                  <c:pt idx="3">
                    <c:v>专家示范后</c:v>
                  </c:pt>
                  <c:pt idx="4">
                    <c:v>正确应对</c:v>
                  </c:pt>
                  <c:pt idx="5">
                    <c:v>平稳收尾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8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B272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37868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FE7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3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累计服务家庭</c:v>
                </c:pt>
              </c:strCache>
            </c:strRef>
          </c:tx>
          <c:spPr>
            <a:solidFill>
              <a:srgbClr val="7FBE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2B27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E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BE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8A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2026 H2
种子期</c:v>
                  </c:pt>
                  <c:pt idx="1">
                    <c:v>2027
付费闭环</c:v>
                  </c:pt>
                  <c:pt idx="2">
                    <c:v>2028
硬件放量</c:v>
                  </c:pt>
                  <c:pt idx="3">
                    <c:v>2029
生态放大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3000</c:v>
                </c:pt>
                <c:pt idx="2">
                  <c:v>6000</c:v>
                </c:pt>
                <c:pt idx="3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50" u="none">
                  <a:solidFill>
                    <a:srgbClr val="2B27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37868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7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378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C78"/>
              </a:solidFill>
              <a:effectLst/>
            </c:spPr>
          </c:dPt>
          <c:dPt>
            <c:idx val="1"/>
            <c:bubble3D val="0"/>
            <c:spPr>
              <a:solidFill>
                <a:srgbClr val="E08A1E"/>
              </a:solidFill>
              <a:effectLst/>
            </c:spPr>
          </c:dPt>
          <c:dPt>
            <c:idx val="2"/>
            <c:bubble3D val="0"/>
            <c:spPr>
              <a:solidFill>
                <a:srgbClr val="4A7C59"/>
              </a:solidFill>
              <a:effectLst/>
            </c:spPr>
          </c:dPt>
          <c:dPt>
            <c:idx val="3"/>
            <c:bubble3D val="0"/>
            <c:spPr>
              <a:solidFill>
                <a:srgbClr val="7FBE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产品研发 40%</c:v>
                </c:pt>
                <c:pt idx="1">
                  <c:v>硬件供应链 25%</c:v>
                </c:pt>
                <c:pt idx="2">
                  <c:v>内容与专家网络 20%</c:v>
                </c:pt>
                <c:pt idx="3">
                  <c:v>市场与运营 15%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37868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FFD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开场一句话：中国有 300-500 万自闭症儿童，持证康复师约 1000 人。我们做的事，是把专家知识工程化，先装进小程序，再装进玩具，最后开放成一张网络。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这一页是整套材料的骨架。如果只有 30 秒，就讲这一页。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三步走不是三条业务线，是同一套能力的三次放大。核心资产复用：专家矩阵与知识库服务三端，边际成本递减。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市场不用多讲，投资人大多知道这个人群的规模。重点是下一页：规模很大，但供给侧卡在「人」上。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1:2500 用持证专业人员口径，1:130 用残联在册康复教师口径，两个基数不同，答辩时要主动说明。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这是整套材料的核心论点。停顿一下再翻页。22 小时空白 = 我们的全部机会。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的四层要一次讲完：模型、硬件、资本、政策。结论落在「12-18 个月窗口期」，自然接到融资需求。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这页回答「你们的护城河到底是什么」：不是某个 App 或某个玩具，是中间那层可复用、可审计、越用越准的专家大脑。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8 位专家是代码里真实存在的（lib/agents.ts），不是 PPT 上的概念。可以当场打开仓库看。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可以先演示再讲：建档 → 生成场景 → 演练 → 报告，全程约 90 秒。演示完回到这页收束。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这一页是「我们真的做出来了」的证据。曲线是模型真实输出的 emotion 字段，不是画上去的。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硬件不是我们的重资产：BOM 60-100 元，固件用开源生态，我们只做大脑层和工业设计。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如果被问「为什么不直接用豆包端到端」，答案在这页：专业内容的安全性不能外包。量产期用意图路由，闲聊走端到端，干预走级联。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第三步讲清楚「终局是什么」。重点是：开放大脑，而不是自己下场开机构、做工厂。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飞轮的核心不是「数据多」，是「数据独特」：客厅里的连续行为数据，只有硬件形态能拿到。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这页回答「你们小团队怎么做到的」。核心信息：每一行剩下的是「领钥匙」而不是「造轮子」。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主动讲合规，是专业度的体现。投资人会问「儿童数据怎么处理」，这页提前答了。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时间轴要诚实：已交付的部分可以打开 git log 给投资人看，未来的部分标注清楚依赖条件。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三条线的关系要讲成「递进」而不是「并列」：C 端验证、B 端背书、硬件放大。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口径说清楚：TAM/SAM/SOM 是假设测算，三年一万家庭才是本轮的硬承诺。答辩时优先讲后者。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不要贬低竞品。定位是「三者交集的空白带」，强调我们是唯一同时具备专业性与家庭场景的。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这一页是全篇最重要的数字页。机构渠道是关键假设，答辩时要能说清「为什么机构愿意签约」：他们缺延伸工具，我们免费降低师训成本。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万 / 10% = 投后 3000 万。如果问估值锚，对标跃然创新 A 轮量级，说明天使轮定价留有大幅上行空间。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团队页要补创始人动机：为什么是你们做这件事。口述补充，不放进 PPT。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结尾不要多说。念完这句话，停两秒，等对方开口。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371600"/>
            <a:ext cx="7315200" cy="7315200"/>
          </a:xfrm>
          <a:prstGeom prst="ellipse">
            <a:avLst/>
          </a:prstGeom>
          <a:solidFill>
            <a:srgbClr val="2034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457200"/>
            <a:ext cx="5486400" cy="5486400"/>
          </a:xfrm>
          <a:prstGeom prst="ellipse">
            <a:avLst/>
          </a:prstGeom>
          <a:solidFill>
            <a:srgbClr val="243C42"/>
          </a:solidFill>
          <a:ln/>
        </p:spPr>
      </p:sp>
      <p:pic>
        <p:nvPicPr>
          <p:cNvPr id="4" name="Image 0" descr="/Users/chenwanyi/Documents/kimi/tasks/2026-08-30/03-45-57-d69526cc/xingtong-cat/docs/deck/img/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417320"/>
            <a:ext cx="288036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914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A R E   ·   A U T I S M   T O G E T H E R   ·   2 0 2 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星童猫咪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566928" y="23774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一个大脑，一具身体，一张网络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66928" y="30632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让每个中国家庭，都请得起一位「懂孩子的干预专家」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66928" y="3794760"/>
            <a:ext cx="6858000" cy="0"/>
          </a:xfrm>
          <a:prstGeom prst="line">
            <a:avLst/>
          </a:prstGeom>
          <a:noFill/>
          <a:ln w="9525">
            <a:solidFill>
              <a:srgbClr val="2E46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第一步 · 软件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4315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已上线 v1.3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62656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第二步 · 硬件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962656" y="4315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○ 链路已打通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358384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第三步 · 生态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358384" y="4315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○ 三年一万家庭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66928" y="5943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Peter 张程 · +86 13159877586 / +852 44358635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6236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github.com/zhangcheng0688/xingtong-cat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一页看懂星童猫咪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自闭症干预的瓶颈从来不是「没有好方法」，而是「好方法到不了家庭」。我们把专家知识工程化，用三步走把它送到孩子身边。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11055096" cy="932688"/>
          </a:xfrm>
          <a:prstGeom prst="roundRect">
            <a:avLst>
              <a:gd name="adj" fmla="val 7843"/>
            </a:avLst>
          </a:prstGeom>
          <a:solidFill>
            <a:srgbClr val="F4EDE0"/>
          </a:solidFill>
          <a:ln w="9525">
            <a:solidFill>
              <a:srgbClr val="E6DA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01952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30 万康复人才的缺口，装进一个 24 小时在线的专家大脑里 —— 再把它放进孩子愿意抱的玩具里。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257175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3284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376732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我们在做什么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4151376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把自闭症干预的专业知识，工程化成一套 8 位专家 Agent 矩阵 + 循证知识库（DSM-5 / ABA / 地板时光 / 情绪共同调节）。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94710" y="3127248"/>
            <a:ext cx="257175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2454" y="33284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32454" y="376732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已证明什么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2454" y="4151376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 v1.3 全链路跑通：演练 / 学习 / 社区 / 报告四模块 + 积分商业化，端到端真实案例可现场演示。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2492" y="3127248"/>
            <a:ext cx="257175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60236" y="33284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60236" y="376732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下一步放大什么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0236" y="4151376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把同一个大脑装进孩子愿意拥抱的 AI 玩具「小星」，让干预从家长学习走进孩子日常生活，数据双向回流。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0274" y="3127248"/>
            <a:ext cx="2571750" cy="2286000"/>
          </a:xfrm>
          <a:prstGeom prst="roundRect">
            <a:avLst>
              <a:gd name="adj" fmla="val 3600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8018" y="33284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88018" y="3767328"/>
            <a:ext cx="2114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终局是什么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8018" y="4151376"/>
            <a:ext cx="2114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向机构、专家与供应链开放这张网络，从「我们服务家庭」变成「整个行业通过我们服务家庭」。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669280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66928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0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本轮融资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21408" y="56692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300 万元 · 天使轮 · 出让 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87568" y="5669280"/>
            <a:ext cx="5568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个月里程碑：付费家庭 1 万 · 签约 100 家康复机构 · 小星玩具完成打样与 3C 认证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THREE-STEP ECOSYSTEM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三步走：一个大脑，一具身体，一张网络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三步共用同一套专家矩阵与循证知识库 —— 边际成本递减，数据双向回流。每一步都在为下一步积累不可替代的资产。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EAF1F2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41401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一个大脑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94436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944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软件 · 已完成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3419856"/>
            <a:ext cx="2880360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547872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把专家知识工程化：8 位专家 Agent 矩阵 + 循证 RAG 知识库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 v1.3 已上线，四模块 + 积分商业化全链路跑通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积累的资产：专业壁垒、付费意愿验证、第一批种子家庭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78224" y="3273552"/>
            <a:ext cx="219456" cy="219456"/>
          </a:xfrm>
          <a:prstGeom prst="ellipse">
            <a:avLst/>
          </a:prstGeom>
          <a:solidFill>
            <a:srgbClr val="DCD1BE"/>
          </a:solidFill>
          <a:ln w="12700">
            <a:solidFill>
              <a:srgbClr val="DCD1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1901952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54296" y="241401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一具身体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654296" y="294436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2944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软硬一体 · 进行中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54296" y="3419856"/>
            <a:ext cx="2880360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3547872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把同一个大脑装进孩子愿意拥抱的 AI 玩具「小星」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级联架构：语音层让路，专家大脑掌权，安全红线可控可审计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积累的资产：客厅里的真实行为数据 —— 软件时代拿不到的部分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91272" y="3273552"/>
            <a:ext cx="219456" cy="219456"/>
          </a:xfrm>
          <a:prstGeom prst="ellipse">
            <a:avLst/>
          </a:prstGeom>
          <a:solidFill>
            <a:srgbClr val="DCD1BE"/>
          </a:solidFill>
          <a:ln w="12700">
            <a:solidFill>
              <a:srgbClr val="DCD1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901952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EDF3EC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67344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67344" y="241401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一张网络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467344" y="294436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67344" y="2944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 · 规划中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67344" y="3419856"/>
            <a:ext cx="2880360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3547872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向康复机构、专家网络与硬件供应链开放同一个大脑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 SaaS 成为「AI 助教」，缓解 30 万康复人才缺口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积累的资产：行业标准与分发渠道 —— 从产品到基础设施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376672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376672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第一步验证专业壁垒  →  第二步放大场景与数据  →  第三步放大分发与标准　｜　每一步的资产，都是下一道的护城河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MARKET · 市场机会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一个庞大而长期被忽视的人群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诊断率提升与公众认知增强，让家庭干预需求正在快速显性化 —— 但供给侧的缺口，二十年来没有结构性改善。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947672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 万+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2688336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中国自闭症谱系障碍人群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中国残联 2023 年残疾人普查口径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993392"/>
            <a:ext cx="0" cy="137160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947672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300-500 万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43400" y="2688336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0-14 岁儿童患者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《中国自闭症教育康复行业发展状况报告》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82712" y="1993392"/>
            <a:ext cx="0" cy="137160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947672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万 / 年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119872" y="2688336"/>
            <a:ext cx="3227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新增患者速度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 CDC（2025）：每 36 名儿童中即有 1 名确诊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730752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9867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需求侧正在发生的三件事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4370832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诊断率提升：筛查工具普及与儿科医生认知提升，确诊年龄持续提前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公众认知增强：家长不再「等孩子长大」，主动寻求早期干预的比例上升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支付意愿形成：52.4% 的家庭已有一人放弃工作全职照看，干预成为刚性支出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4041648"/>
            <a:ext cx="5202936" cy="1700784"/>
          </a:xfrm>
          <a:prstGeom prst="roundRect">
            <a:avLst>
              <a:gd name="adj" fmla="val 4301"/>
            </a:avLst>
          </a:prstGeom>
          <a:solidFill>
            <a:srgbClr val="EAF1F2"/>
          </a:solidFill>
          <a:ln w="9525">
            <a:solidFill>
              <a:srgbClr val="D5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22452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 CDC 2025：每 36 名儿童中即有 1 名确诊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4553712"/>
            <a:ext cx="4690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中国按同一口径推算，0-14 岁患儿已达 300-500 万量级。这是一个千万级人群、千亿级年支出、却长期缺乏数字化供给的市场。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数据来源：中国新闻网·《2025 年度儿童发展障碍康复行业蓝皮书》；智研咨询（2025-12）；美国 CDC（2025）；《中国孤独症家长需求调查问卷》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PROBLEM · 痛点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家庭干预，卡在「人」上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方法不缺，缺的是能把方法带进家庭的人。三组数字，说明这个缺口有多深。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749040" cy="2340864"/>
          </a:xfrm>
          <a:prstGeom prst="roundRect">
            <a:avLst>
              <a:gd name="adj" fmla="val 3906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9456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2500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77824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持证专业人员与患儿比例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3346704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全国持证专业人员约 1000 人，对应 300-500 万患儿；残联在册康复教师口径下为 1:130。两个口径并列，缺口量级都在「万」以上。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08576" y="1947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万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45936" y="2048256"/>
            <a:ext cx="5276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康复人才缺口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8576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小时 / 周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11696" y="2660904"/>
            <a:ext cx="491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最低干预强度，需持续 2-3 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08576" y="3172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711696" y="3273552"/>
            <a:ext cx="491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家庭有一人放弃工作全职照看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517136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846320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4791456"/>
            <a:ext cx="307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家长不懂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6928" y="5157216"/>
            <a:ext cx="3477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孩子不愿沟通、家长难以共情；不合理的干预反而加剧病情，身心与经济双重承压。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55592" y="4846320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5592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7928" y="4791456"/>
            <a:ext cx="307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机构贵且远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55592" y="5157216"/>
            <a:ext cx="3477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机构费用高昂，超半数家庭难以承担；且干预发生在机构，不在孩子真实的生活场景。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44256" y="4846320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4256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6592" y="4791456"/>
            <a:ext cx="307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干预不及时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44256" y="5157216"/>
            <a:ext cx="3477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诊断在提前，服务供给没跟上 —— 等待排期的几个月，正是干预的黄金窗口。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数据来源：中国新闻网（2026-04）；北京大学第六医院贾美香主任医师公开访谈；《中国孤独症家长需求调查问卷》；中国残联 2023 年残疾人普查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194560"/>
            <a:ext cx="5852160" cy="5852160"/>
          </a:xfrm>
          <a:prstGeom prst="ellipse">
            <a:avLst/>
          </a:prstGeom>
          <a:solidFill>
            <a:srgbClr val="20343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一个孩子一天 24 小时，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18470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专家只在他身边 </a:t>
            </a:r>
            <a:pPr indent="0" marL="0">
              <a:buNone/>
            </a:pPr>
            <a:r>
              <a:rPr lang="en-US" sz="36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小时</a:t>
            </a:r>
            <a:pPr indent="0" marL="0">
              <a:buNone/>
            </a:pPr>
            <a:r>
              <a:rPr lang="en-US" sz="36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268833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剩下 22 小时，发生在客厅、餐桌、超市和睡前 —— 那才是干预真正的战场，却也是最没有专业支持的地方。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566160"/>
            <a:ext cx="7680960" cy="0"/>
          </a:xfrm>
          <a:prstGeom prst="line">
            <a:avLst/>
          </a:prstGeom>
          <a:noFill/>
          <a:ln w="9525">
            <a:solidFill>
              <a:srgbClr val="2E46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03904"/>
            <a:ext cx="235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知识在哪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151376"/>
            <a:ext cx="224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在约 1000 位持证专家的脑子里，和少数头部机构的教室里。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30880" y="3803904"/>
            <a:ext cx="235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孩子在哪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30880" y="4151376"/>
            <a:ext cx="224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300 万个家庭的客厅里，一天 24 小时，一周 7 天。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94832" y="3803904"/>
            <a:ext cx="235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断裂在哪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94832" y="4151376"/>
            <a:ext cx="2243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好方法到不了家庭 —— 家长想帮，却不知道此刻该说什么、做什么。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358384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35838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干预的瓶颈从来不是「没有好方法」，而是「好方法的可及性」。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而开源大模型的成熟，第一次让专业级干预的边际成本趋近于零 —— 这是我们能解决它的原因。</a:t>
            </a:r>
            <a:endParaRPr lang="en-US" sz="1350" dirty="0"/>
          </a:p>
        </p:txBody>
      </p:sp>
      <p:pic>
        <p:nvPicPr>
          <p:cNvPr id="16" name="Image 0" descr="/Users/chenwanyi/Documents/kimi/tasks/2026-08-30/03-45-57-d69526cc/xingtong-cat/docs/deck/img/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2103120"/>
            <a:ext cx="2926080" cy="2926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为什么是现在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两端条件第一次同时成立：技术的成本曲线下来了，硬件的供应链与资本热度上来了。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2558034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01952"/>
            <a:ext cx="2558034" cy="73152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76272"/>
            <a:ext cx="2100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开源大模型成熟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145536"/>
            <a:ext cx="210083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专业干预内容生成的边际成本第一次趋近于零 —— 2023 年之前，这件事在成本上不成立。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99282" y="1901952"/>
            <a:ext cx="2558034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9282" y="1901952"/>
            <a:ext cx="2558034" cy="73152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7026" y="2176272"/>
            <a:ext cx="2100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7026" y="2468880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玩具供应链成熟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7026" y="3145536"/>
            <a:ext cx="210083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广东产业带 + ESP32-S3 方案，整机 BOM ¥60-100；开源固件生态（xiaozhi 29.4k★）免造轮子。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1636" y="1901952"/>
            <a:ext cx="2558034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1636" y="1901952"/>
            <a:ext cx="2558034" cy="73152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9380" y="2176272"/>
            <a:ext cx="2100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9380" y="2468880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赛道热度已验证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9380" y="3145536"/>
            <a:ext cx="210083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年以来 AI 玩具赛道融资超 50 起、金额超 200 亿元；跃然创新（BubblePal）获 2 亿元 A 轮。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63990" y="1901952"/>
            <a:ext cx="2558034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63990" y="1901952"/>
            <a:ext cx="2558034" cy="7315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1734" y="2176272"/>
            <a:ext cx="2100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01734" y="2468880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认知与保障提升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01734" y="3145536"/>
            <a:ext cx="210083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《「十四五」特殊教育发展提升行动计划》推进，残联康复救助制度覆盖扩大，诊断与干预意识快速普及。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572000"/>
            <a:ext cx="11055096" cy="877824"/>
          </a:xfrm>
          <a:prstGeom prst="roundRect">
            <a:avLst>
              <a:gd name="adj" fmla="val 8333"/>
            </a:avLst>
          </a:prstGeom>
          <a:solidFill>
            <a:srgbClr val="F4EDE0"/>
          </a:solidFill>
          <a:ln w="9525">
            <a:solidFill>
              <a:srgbClr val="E6DA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4572000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窗口判断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12848" y="4645152"/>
            <a:ext cx="9043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 AI 玩具已验证「硬件 + 订阅」的商业模式，但没有人把干预专业性做进去；专业机构有内容，但没有产品与数据能力。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中间这条「专业干预 × AI 个性化」的空白带，窗口期约 12-18 个月 —— 这正是本轮融资要抢的时间。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数据来源：央视财经（2025-11）；中商产业研究院（2025）；新华网（2026-04）；公开融资信息整理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ARCHITECTURE · 全栈架构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同一套大脑，三个入口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所有入口共用一层「专家大脑」。语音、形态、渠道都可以换，专业性与安全性不换。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11055096" cy="1170432"/>
          </a:xfrm>
          <a:prstGeom prst="roundRect">
            <a:avLst>
              <a:gd name="adj" fmla="val 7813"/>
            </a:avLst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01952"/>
            <a:ext cx="2194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 家 大 脑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35808" y="2139696"/>
            <a:ext cx="0" cy="694944"/>
          </a:xfrm>
          <a:prstGeom prst="line">
            <a:avLst/>
          </a:prstGeom>
          <a:noFill/>
          <a:ln w="12700">
            <a:solidFill>
              <a:srgbClr val="4E8A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2121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位专家 Agent 矩阵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10128" y="245059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E0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场景理解 · 心理检索 · 儿童模拟 · 观察点评 · 协调总结 · 课程讲师 · 周报主编 · 小星玩伴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90688" y="2121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循证 RAG 知识库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90688" y="245059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FE0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DSM-5 · ABA · 地板时光 · 情绪共同调节 · 感觉统合 · 视觉支持 · 社交故事 · 专业边界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5332" y="3346704"/>
            <a:ext cx="0" cy="329184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3803904"/>
            <a:ext cx="3465576" cy="1700784"/>
          </a:xfrm>
          <a:prstGeom prst="roundRect">
            <a:avLst>
              <a:gd name="adj" fmla="val 4839"/>
            </a:avLst>
          </a:prstGeom>
          <a:solidFill>
            <a:srgbClr val="EAF1F2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9867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入口一 · 家长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261104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22960" y="46634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页全功能：演练 / 学习 / 社区 / 我的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积分商业化已跑通，端到端案例可演示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61688" y="3803904"/>
            <a:ext cx="3465576" cy="1700784"/>
          </a:xfrm>
          <a:prstGeom prst="roundRect">
            <a:avLst>
              <a:gd name="adj" fmla="val 4839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39867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入口二 · 孩子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17720" y="4261104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玩具「小星」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617720" y="46634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链路已打通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502920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ESP32-S3 方案，BOM ¥60-100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级联架构：语音层让路，专家大脑掌权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56448" y="3803904"/>
            <a:ext cx="3465576" cy="1700784"/>
          </a:xfrm>
          <a:prstGeom prst="roundRect">
            <a:avLst>
              <a:gd name="adj" fmla="val 4839"/>
            </a:avLst>
          </a:prstGeom>
          <a:solidFill>
            <a:srgbClr val="EDF3EC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39867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入口三 · 机构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4261104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康复机构 SaaS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412480" y="46634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502920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家庭延伸干预工具与师训支持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按席位 / 机构年费授权，缓解人才缺口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760720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99846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三个入口，一套大脑　·　边际成本递减　·　数据双向回流：家长端学方法，孩子端出行为数据，机构端做分发与背书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1 · 一个大脑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位专家 Agent 矩阵：把干预过程拆开，再逐个工程化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一场演练不是一次对话，是五个专家角色按序协作；另有三位专家分别服务于学习、周报与玩具。COSTAR Prompt 框架保证输出质量与责任边界。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0684" y="1901952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5276" y="2048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" y="23774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场景理解者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5276" y="274320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模糊描述 → 结构化场景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56916" y="2587752"/>
            <a:ext cx="256032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40380" y="1901952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4972" y="2048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4972" y="23774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心理学检索者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4972" y="274320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循证语料检索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6612" y="2587752"/>
            <a:ext cx="256032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80076" y="1901952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4668" y="2048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4668" y="23774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儿童模拟者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4668" y="274320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以孩子身份真实回应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36308" y="2587752"/>
            <a:ext cx="256032" cy="0"/>
          </a:xfrm>
          <a:prstGeom prst="line">
            <a:avLst/>
          </a:prstGeom>
          <a:noFill/>
          <a:ln w="19050">
            <a:solidFill>
              <a:srgbClr val="E08A1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9772" y="1901952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84364" y="2048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84364" y="23774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观察心理专家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84364" y="274320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逐句教练式点评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76004" y="2587752"/>
            <a:ext cx="256032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59468" y="1901952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24060" y="2048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24060" y="23774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协调总结专家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24060" y="274320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结构化报告生成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80076" y="332841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⇄ 并行调用：孩子回应与专家点评同时生成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749040"/>
            <a:ext cx="3502152" cy="987552"/>
          </a:xfrm>
          <a:prstGeom prst="roundRect">
            <a:avLst>
              <a:gd name="adj" fmla="val 7407"/>
            </a:avLst>
          </a:prstGeom>
          <a:solidFill>
            <a:srgbClr val="F4EDE0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98448" y="38770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循证课程讲师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04672" y="420624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门课 / 42 节互动课，讲解 → 提问 → 实战检验三段式授课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43400" y="3749040"/>
            <a:ext cx="3502152" cy="987552"/>
          </a:xfrm>
          <a:prstGeom prst="roundRect">
            <a:avLst>
              <a:gd name="adj" fmla="val 7407"/>
            </a:avLst>
          </a:prstGeom>
          <a:solidFill>
            <a:srgbClr val="F4EDE0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4920" y="38770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周报主编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81144" y="420624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汇总一周干预数据，生成温暖且有洞察的家庭周报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19872" y="3749040"/>
            <a:ext cx="3502152" cy="987552"/>
          </a:xfrm>
          <a:prstGeom prst="roundRect">
            <a:avLst>
              <a:gd name="adj" fmla="val 7407"/>
            </a:avLst>
          </a:prstGeom>
          <a:solidFill>
            <a:srgbClr val="F4EDE0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⑧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851392" y="38770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小星玩伴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357616" y="420624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玩具端陪伴大脑，短句 + 先情绪后事情 + 安全红线预警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5010912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523036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设计原则：自研编排，不引入 LangChain / Dify —— 8 个角色顺序编排仅约 200 行透明代码，可审计、可迭代、无黑盒。知识库规模超过 1 万条后再引入向量检索（pgvector）。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实现位置：lib/agents.ts（COSTAR Prompt 框架）· lib/knowledge.ts（RAG 检索）· data/knowledge/（10 篇循证语料）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1 · 产品实景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 v1.3 已真实跑通全链路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开源仓库 github.com/zhangcheng0688/xingtong-cat，微信开发者工具导入即跑，可现场演示。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EDE0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82496" y="2103120"/>
            <a:ext cx="0" cy="493776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20299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星星档案建档 → 一句话生成孪生场景 → 实时演练 + 观察专家逐句点评 → 结构化总结报告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5409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82496" y="3127248"/>
            <a:ext cx="0" cy="493776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305409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门循证干预课程、42 节互动课，按孩子档案个性化排序，讲师 Agent 对话式授课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950208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EDE0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7822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682496" y="4151376"/>
            <a:ext cx="0" cy="493776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40782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话题分类 + 专家答疑 + 点赞评论，家长互助氛围，真实干预案例沉淀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974336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023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82496" y="5175504"/>
            <a:ext cx="0" cy="493776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5102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孩子档案管理 · 积分余额 · 周报入口 · 微信 / 手机号双登录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6089904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089904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商业化已跑通　注册送 30 积分 · 演练 5 积分 / 场 · 课程 2 积分 / 节 · 周报 3 积分 / 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82512" y="190195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真机界面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26580" y="2249424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D9C7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pic>
        <p:nvPicPr>
          <p:cNvPr id="25" name="Image 0" descr="/Users/chenwanyi/Documents/kimi/tasks/2026-08-30/03-45-57-d69526cc/xingtong-cat/docs/deck/img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72300" y="2295144"/>
            <a:ext cx="1920240" cy="374904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9066276" y="2249424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D9C7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pic>
        <p:nvPicPr>
          <p:cNvPr id="27" name="Image 1" descr="/Users/chenwanyi/Documents/kimi/tasks/2026-08-30/03-45-57-d69526cc/xingtong-cat/docs/deck/img/lear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11996" y="2295144"/>
            <a:ext cx="1920240" cy="3749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1 · 已验证的端到端链路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一个真实案例：从情绪崩溃到 74 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 Demo，是跑通的一次完整干预闭环。孩子的情绪强度由模型实时输出（1-10），专家点评逐句生成。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" y="1975104"/>
            <a:ext cx="146304" cy="146304"/>
          </a:xfrm>
          <a:prstGeom prst="ellipse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" y="2139696"/>
            <a:ext cx="0" cy="512064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83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建档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39696" y="1883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乐乐，4 岁，ASD 中度。录入语言水平、感觉敏感、情绪触发点。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" y="2670048"/>
            <a:ext cx="146304" cy="146304"/>
          </a:xfrm>
          <a:prstGeom prst="ellipse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" y="2834640"/>
            <a:ext cx="0" cy="512064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5786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生成场景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39696" y="257860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家长一句话「超市购物」→ 场景理解者生成背景、导火索、孩子初始状态与演练目标。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" y="3364992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" y="3529584"/>
            <a:ext cx="0" cy="512064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2735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错误应对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39696" y="32735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家长使用威胁性语言 → 孩子情绪强度 5 → 9 真实升级，模拟者给出【捂住耳朵】等回避动作。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" y="4059936"/>
            <a:ext cx="146304" cy="146304"/>
          </a:xfrm>
          <a:prstGeom prst="ellipse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" y="4224528"/>
            <a:ext cx="0" cy="512064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968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专家点评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39696" y="396849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观察专家当场指出「抛弃式威胁」问题，并给出可替换的示范说法。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" y="4754880"/>
            <a:ext cx="146304" cy="146304"/>
          </a:xfrm>
          <a:prstGeom prst="ellipse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" y="4919472"/>
            <a:ext cx="0" cy="512064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663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正确应对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39696" y="4663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家长改用蹲下、轻声、简短指令 + 视觉提示 → 孩子情绪回落至 5，给出一点回应。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" y="544982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53583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139696" y="535838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协调总结专家输出结构化报告：74 分，含亮点引用、改进示范、孩子解读与下周练习。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42048" y="1901952"/>
            <a:ext cx="4379976" cy="3803904"/>
          </a:xfrm>
          <a:prstGeom prst="roundRect">
            <a:avLst>
              <a:gd name="adj" fmla="val 216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206654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孩子情绪强度（1-10）实时建模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98080" y="237744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模型的「儿童模拟者」Agent 在每一轮输出情绪强度，家长应对质量直接反映在曲线上 —— 这是干预效果第一次可被量化追踪。</a:t>
            </a:r>
            <a:endParaRPr lang="en-US" sz="10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7370064" y="3035808"/>
          <a:ext cx="4123944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7498080" y="51023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峰值 9（崩溃）→ 收尾 5（平稳）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66928" y="5943600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14476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全流程已通过：讲师授课 · 课时打卡 · 周报生成 · 社区发帖与评论。知识库与课程内容基于公开循证通识撰写，正式上线前由专家顾问团审校。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数据来源：本项目端到端实测记录（lib/agents.ts 输出，2026-08）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2 · 一具身体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「小星」——住进孩子世界的干预伙伴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孩子不会主动打开一个 App，但会主动抱起一只猫。硬件把干预从「家长学」推进到「孩子用」。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4846320" cy="3401568"/>
          </a:xfrm>
          <a:prstGeom prst="roundRect">
            <a:avLst>
              <a:gd name="adj" fmla="val 3226"/>
            </a:avLst>
          </a:prstGeom>
          <a:solidFill>
            <a:srgbClr val="F4EDE0"/>
          </a:solidFill>
          <a:ln w="9525">
            <a:solidFill>
              <a:srgbClr val="E6DAC5"/>
            </a:solidFill>
            <a:prstDash val="solid"/>
          </a:ln>
        </p:spPr>
      </p:sp>
      <p:pic>
        <p:nvPicPr>
          <p:cNvPr id="6" name="Image 0" descr="/Users/chenwanyi/Documents/kimi/tasks/2026-08-30/03-45-57-d69526cc/xingtong-cat/docs/deck/img/toy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011680"/>
            <a:ext cx="4626864" cy="3182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4919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小星 V1 原型渲染 · 猫形 IP 设计演绎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97296" y="1901952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软硅胶猫耳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797296" y="2176272"/>
            <a:ext cx="5824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情绪灯效：平静呼吸光 / 开心彩虹光，由小星玩伴 Agent 的 emotion 字段实时驱动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97296" y="2743200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琥珀色 LED 大眼睛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797296" y="3017520"/>
            <a:ext cx="5824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动效极简、可预期、不吓到孩子，符合 ASD 儿童感觉友好原则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97296" y="3584448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胸口星星灯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797296" y="3858768"/>
            <a:ext cx="5824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正向强化的视觉锚点：孩子完成一个干预小目标，星星亮一次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97296" y="4425696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毛绒底座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797296" y="4700016"/>
            <a:ext cx="5824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可拥抱的触感，雾青布艺 + 奶油机身，自然融入卧室与客厅场景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" y="5614416"/>
            <a:ext cx="2101291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5705856"/>
            <a:ext cx="1753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86384" y="6035040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ESP32-S3-WROOM-1-N16R8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86384" y="6254496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主控 · Wi-Fi + 音频编解码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832811" y="5614416"/>
            <a:ext cx="2101291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97403" y="5705856"/>
            <a:ext cx="1753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2997403" y="6035040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INMP441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997403" y="6254496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I2S 数字麦克风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43830" y="5614416"/>
            <a:ext cx="2101291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08422" y="5705856"/>
            <a:ext cx="1753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208422" y="6035040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MAX98357A + 3W 喇叭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208422" y="6254496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功放与发声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254850" y="5614416"/>
            <a:ext cx="2101291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19442" y="5705856"/>
            <a:ext cx="1753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7419442" y="6035040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3.7V 锂电 + Type-C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419442" y="6254496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便携供电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465869" y="5614416"/>
            <a:ext cx="2101291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30461" y="5705856"/>
            <a:ext cx="1753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9630461" y="6035040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舵机 ×2 + RGB 灯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9630461" y="6254496"/>
            <a:ext cx="17538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动作与情绪表达层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66928" y="67116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整机 BOM ¥60-100　·　固件基于 xiaozhi-esp32 开源生态（29.4k★，ESP32 AI 机器人事实标准），服务器地址指向我们即可，无需从零写固件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硬件方案与 BOM 依据 docs/VOICE_TOY.md 参考设计；图片为设计演绎渲染图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2 · 技术架构（已实现）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级联架构：语音层让路，专家大脑掌权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自闭症干预有安全红线 —— 孩子听到的每一句话，都必须经过我们可控的专家矩阵。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2064715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029968"/>
            <a:ext cx="1772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2304288"/>
            <a:ext cx="1772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 / 家长说话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907792"/>
            <a:ext cx="1772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玩具麦克风 · 小程序语音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49931" y="2688336"/>
            <a:ext cx="146304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4523" y="1901952"/>
            <a:ext cx="2064715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60827" y="2029968"/>
            <a:ext cx="1772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8B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60827" y="2304288"/>
            <a:ext cx="1772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ASR 听清 · TTS 说好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60827" y="2907792"/>
            <a:ext cx="1772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云端百炼 / 自部署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FunASR · CosyVoice 双轨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7526" y="2688336"/>
            <a:ext cx="146304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62118" y="1901952"/>
            <a:ext cx="2064715" cy="1572768"/>
          </a:xfrm>
          <a:prstGeom prst="roundRect">
            <a:avLst>
              <a:gd name="adj" fmla="val 5233"/>
            </a:avLst>
          </a:prstGeom>
          <a:solidFill>
            <a:srgbClr val="FDF3E4"/>
          </a:solidFill>
          <a:ln w="19050">
            <a:solidFill>
              <a:srgbClr val="E08A1E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08422" y="2029968"/>
            <a:ext cx="1772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大脑层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08422" y="2304288"/>
            <a:ext cx="1772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多专家 Agent 矩阵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08422" y="2907792"/>
            <a:ext cx="1772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场景理解 · 心理检索 · 儿童模拟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 · 总结 · 小星玩伴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45122" y="2688336"/>
            <a:ext cx="146304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09714" y="1901952"/>
            <a:ext cx="2064715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6018" y="2029968"/>
            <a:ext cx="1772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6018" y="2304288"/>
            <a:ext cx="1772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循证知识库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56018" y="2907792"/>
            <a:ext cx="1772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DSM-5 · 干预指南 · 专业语料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92717" y="2688336"/>
            <a:ext cx="146304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57309" y="1901952"/>
            <a:ext cx="2064715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03613" y="2029968"/>
            <a:ext cx="1772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03613" y="2304288"/>
            <a:ext cx="1772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回应 + emotion / action / alert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03613" y="2907792"/>
            <a:ext cx="1772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驱动语音、灯效与家长预警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3785616"/>
            <a:ext cx="61908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为什么不是端到端黑盒？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4187952"/>
            <a:ext cx="61908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安全红线：孩子听到的每句话都必须经过循证专家矩阵，内容可控、可审计、有边界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专业性即壁垒：级联架构让干预专业性沉淀在我们自己的矩阵与知识库里，而非交给通用模型自由发挥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可替换性：语音层是商品化能力（云端 / 自部署 / 端侧随时切换），大脑层才是资产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COSTAR Prompt 框架保证输出质量与责任边界；小星玩伴内置自伤 / 伤害线索识别 → 温柔安抚 + 家长预警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23542" y="3694176"/>
            <a:ext cx="4498482" cy="2231136"/>
          </a:xfrm>
          <a:prstGeom prst="roundRect">
            <a:avLst>
              <a:gd name="adj" fmla="val 3689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9574" y="3858768"/>
            <a:ext cx="3986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玩具端一站式端点（已上线）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79574" y="4187952"/>
            <a:ext cx="39864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/api/voice/turn</a:t>
            </a:r>
            <a:endParaRPr lang="en-US" dirty="0"/>
          </a:p>
          <a:p>
            <a:pPr indent="0" marL="0">
              <a:lnSpc>
                <a:spcPct val="125000"/>
              </a:lnSpc>
              <a:buNone/>
            </a:pPr>
            <a:endParaRPr lang="en-US" sz="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音频进 → 一次返回：</a:t>
            </a:r>
            <a:endParaRPr lang="en-US" sz="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heard · reply · audio(mp3) · emotion · action · alert</a:t>
            </a:r>
            <a:endParaRPr lang="en-US" sz="600" dirty="0"/>
          </a:p>
          <a:p>
            <a:pPr indent="0" marL="0">
              <a:lnSpc>
                <a:spcPct val="125000"/>
              </a:lnSpc>
              <a:buNone/>
            </a:pPr>
            <a:endParaRPr lang="en-US" sz="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固件只管调这一个端点，协议升级（HTTP → WebSocket/RTC）不影响大脑层。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实现位置：app/api/voice/turn/route.ts · lib/voice.ts（端点可替换设计）· docs/VOICE_TOY.md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3 · 一张网络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从「我们服务家庭」，到「整个行业通过我们服务家庭」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第三步不是新增一条业务线，而是把已经跑通的大脑开放出去 —— 让机构、专家、供应链都接在这张网络上。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95728" y="1828800"/>
            <a:ext cx="2834640" cy="283464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26974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星童猫咪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专家大脑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67128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3F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专家矩阵 · 循证知识库 · 数据飞轮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19088" y="192024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20343A"/>
          </a:solidFill>
          <a:ln w="12700">
            <a:solidFill>
              <a:srgbClr val="2E46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38544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康复机构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38544" y="23591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助教 SaaS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38544" y="26334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家庭延伸干预工具 + 师训支持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按席位 / 机构年费授权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缓解 30 万人才缺口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19088" y="393192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20343A"/>
          </a:solidFill>
          <a:ln w="12700">
            <a:solidFill>
              <a:srgbClr val="2E46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4078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专家网络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38544" y="4370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内容共创与审校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38544" y="4645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儿童心理 · 发展行为儿科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持证康复师（BCBA 等）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专业背书与内容供给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20343A"/>
          </a:solidFill>
          <a:ln w="12700">
            <a:solidFill>
              <a:srgbClr val="2E46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078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硬件供应链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370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广东产业带 + ODM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4645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开源固件生态 + 成熟制造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整机 BOM ¥60-100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快速迭代与成本优势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192024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20343A"/>
          </a:solidFill>
          <a:ln w="12700">
            <a:solidFill>
              <a:srgbClr val="2E46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家庭与社区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23591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10,000 组家庭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" y="26334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真实场景语料脱敏回流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口碑传播带来新家庭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越用越懂每个孩子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30368" y="2468880"/>
            <a:ext cx="1188720" cy="-548640"/>
          </a:xfrm>
          <a:prstGeom prst="line">
            <a:avLst/>
          </a:prstGeom>
          <a:noFill/>
          <a:ln w="12700">
            <a:solidFill>
              <a:srgbClr val="3C5A6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230368" y="4023360"/>
            <a:ext cx="1188720" cy="548640"/>
          </a:xfrm>
          <a:prstGeom prst="line">
            <a:avLst/>
          </a:prstGeom>
          <a:noFill/>
          <a:ln w="12700">
            <a:solidFill>
              <a:srgbClr val="3C5A6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447288" y="4023360"/>
            <a:ext cx="1188720" cy="548640"/>
          </a:xfrm>
          <a:prstGeom prst="line">
            <a:avLst/>
          </a:prstGeom>
          <a:noFill/>
          <a:ln w="12700">
            <a:solidFill>
              <a:srgbClr val="3C5A6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447288" y="2468880"/>
            <a:ext cx="1188720" cy="-548640"/>
          </a:xfrm>
          <a:prstGeom prst="line">
            <a:avLst/>
          </a:prstGeom>
          <a:noFill/>
          <a:ln w="12700">
            <a:solidFill>
              <a:srgbClr val="3C5A6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66928" y="5577840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22383D"/>
          </a:solidFill>
          <a:ln w="12700">
            <a:solidFill>
              <a:srgbClr val="2E46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57784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终局：成为自闭症家庭干预的基础设施 —— 机构通过我们延伸服务，专家通过我们分发知识，家庭通过我们获得可负担的专业支持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FLYWHEEL · 增长引擎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数据飞轮：越用越懂每一个星星的孩子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硬件端数据是软件时代拿不到的部分 —— 日常生活场景的真实行为记录，构成长期竞争壁垒。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258546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10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家庭使用 · 社区分享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2109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 互动 + 小星日常陪伴；家长在社区沉淀真实干预案例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0682" y="2788920"/>
            <a:ext cx="201168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90138" y="1901952"/>
            <a:ext cx="2585466" cy="1773936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27882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27882" y="2560320"/>
            <a:ext cx="210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真实场景语料沉淀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27882" y="3017520"/>
            <a:ext cx="2109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脱敏后的干预案例与行为数据；语料库扩充 + 持续微调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93892" y="2788920"/>
            <a:ext cx="201168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3348" y="1901952"/>
            <a:ext cx="2585466" cy="1773936"/>
          </a:xfrm>
          <a:prstGeom prst="roundRect">
            <a:avLst>
              <a:gd name="adj" fmla="val 4639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1092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51092" y="2560320"/>
            <a:ext cx="210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专家矩阵与模型迭代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51092" y="3017520"/>
            <a:ext cx="2109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专家顾问团审校 + 领域语料微调（FT）+ 检索增强（RAG）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17102" y="2788920"/>
            <a:ext cx="201168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36558" y="1901952"/>
            <a:ext cx="2585466" cy="1773936"/>
          </a:xfrm>
          <a:prstGeom prst="roundRect">
            <a:avLst>
              <a:gd name="adj" fmla="val 4639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74302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74302" y="2560320"/>
            <a:ext cx="210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更准的干预建议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74302" y="3017520"/>
            <a:ext cx="2109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更贴合这个孩子的下一次建议 → 口碑传播，更多家庭加入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87705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 →  ①　闭环：每一次交互都在让下一个家庭受益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334256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590288"/>
            <a:ext cx="5195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为什么这条飞轮别人转不起来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" y="4956048"/>
            <a:ext cx="5195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数据只在真实家庭场景里产生：机构数据是一次评估，我们拿到的是一天 22 小时的连续行为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合规即门槛：儿童语音属敏感个人信息，我们已按个保法设计「识别后即弃 + 一键删除」，后来者要重走一遍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专业性与数据互相强化：越准的建议带来越多使用，越多使用带来越准的建议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46871" y="4590288"/>
            <a:ext cx="5475153" cy="1700784"/>
          </a:xfrm>
          <a:prstGeom prst="roundRect">
            <a:avLst>
              <a:gd name="adj" fmla="val 4839"/>
            </a:avLst>
          </a:prstGeom>
          <a:solidFill>
            <a:srgbClr val="EAF1F2"/>
          </a:solidFill>
          <a:ln w="9525">
            <a:solidFill>
              <a:srgbClr val="D5E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1191" y="4754880"/>
            <a:ext cx="4926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隐私保护设计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21191" y="5084064"/>
            <a:ext cx="49265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特殊群体数据敏感，我们提供端侧 / 自部署选项：量产期可切换自部署 FunASR + CosyVoice，儿童语音不出内网 —— 这是 B 端机构采购的前提条件。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ENGINEERING · 技术选型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自研只投在差异化上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通用能力全部用成熟开源与云服务，团队的资源集中在专家矩阵、循证知识库与家长体验这三件只有我们能做的事上。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0149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34440"/>
                <a:gridCol w="4572000"/>
                <a:gridCol w="2057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环节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玩具固件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C7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接入生态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xiaozhi-esp32（29.4k★）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协议已兼容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ASR 语音识别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C7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云端百炼 + FunASR 自部署（20k★）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代码已支持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TTS 语音合成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C7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云端百炼 + CosyVoice 自部署（23k★）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代码已支持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音色克隆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C7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豆包声音复刻 / GPT-SoVITS（61k★）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文档级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全双工通话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C7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量产引入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火山 RTC + 豆包 SC2.0 / FireRedChat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路线图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编排 / RAG 框架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F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自研轻量实现（约 200 行，透明可控）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已上线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小程序 UI 组件库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F0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自研温馨设计系统（奶油/蜜柑/雾青）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已上线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48656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54864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人月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592531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做出覆盖软件 + 硬件链路的全栈产品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343400" y="54864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行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343400" y="592531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从零编写的固件代码（基于开源生态）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19872" y="54864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119872" y="592531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花在通用能力上的自研成本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数据来源：GitHub API 实时检索（star 数为 2026-08-30 当日值）；完整决策清单见 docs/OPENSOURCE_STACK.md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SAFETY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儿童安全与合规：这个品类的高压线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面向特殊儿童的产品，安全不是加分项，是准入门槛。我们在架构层面就把红线设计进去了。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39038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21408"/>
            <a:ext cx="54864" cy="113385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21408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内容安全双层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505456"/>
            <a:ext cx="4841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安全红线 Prompt 约束 + 量产期独立内容审核 API；小星玩伴识别自伤 / 伤害线索 → 温柔安抚 + alert 预警家长。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901952"/>
            <a:ext cx="539038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1636" y="2121408"/>
            <a:ext cx="54864" cy="1133856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5956" y="2121408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个保法合规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05956" y="2505456"/>
            <a:ext cx="4841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儿童语音属敏感个人信息：采集需监护人明示同意（登录页勾选）· 原始音频识别后即弃（当前实现不落盘）· 提供一键删除孩子全部数据入口。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675888"/>
            <a:ext cx="539038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895344"/>
            <a:ext cx="54864" cy="1133856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895344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防沉迷设计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248" y="4279392"/>
            <a:ext cx="4841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玩具定位是「家长干预的延伸」，不是电子保姆：默认每日对话上限 30 分钟，家长在小程序可调。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1636" y="3675888"/>
            <a:ext cx="539038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1636" y="3895344"/>
            <a:ext cx="54864" cy="113385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5956" y="3895344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广告与诱导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05956" y="4279392"/>
            <a:ext cx="4841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玩具端永远不出现消费引导；积分与付费只在家长端，孩子面对的只有一只猫。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632704"/>
            <a:ext cx="11055096" cy="822960"/>
          </a:xfrm>
          <a:prstGeom prst="roundRect">
            <a:avLst>
              <a:gd name="adj" fmla="val 8889"/>
            </a:avLst>
          </a:prstGeom>
          <a:solidFill>
            <a:srgbClr val="F4EDE0"/>
          </a:solidFill>
          <a:ln w="9525">
            <a:solidFill>
              <a:srgbClr val="E6DA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5632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责任边界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304288" y="5687568"/>
            <a:ext cx="8951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产品定位为「家庭干预助手」，不做医学诊断、不替代专业治疗。全部干预内容由专家顾问团（儿童心理 / 发展行为儿科 / 持证 BCBA 康复师）审校，产品与医学建议之间设有清晰责任边界。当前知识库基于公开循证通识撰写，正式上线前完成审校。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合规依据：《个人信息保护法》敏感个人信息处理规则；设计详见 docs/VOICE_TOY.md §4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ROADMAP · 开发时间轴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已交付什么，接下来 18 个月做什么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上半部分是已经提交的代码，下半部分是可交付的里程碑 —— 每一步都对应具体的产出物。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9019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已交付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81328" y="19202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已提交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340864"/>
            <a:ext cx="2050085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487168"/>
            <a:ext cx="182880" cy="18288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68880"/>
            <a:ext cx="14100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16843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四大模块 + 7 专家 Agent 矩阵 + 温馨设计系统 + 登录体系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26157" y="2843784"/>
            <a:ext cx="182880" cy="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18181" y="2340864"/>
            <a:ext cx="2050085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1061" y="2487168"/>
            <a:ext cx="182880" cy="18288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5381" y="2468880"/>
            <a:ext cx="14100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01061" y="2761488"/>
            <a:ext cx="16843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积分商业化 Credits 全链路：注册赠送 · 消耗 · 充值 · 明细流水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77410" y="2843784"/>
            <a:ext cx="182880" cy="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69434" y="2340864"/>
            <a:ext cx="2050085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2314" y="2487168"/>
            <a:ext cx="182880" cy="18288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6634" y="2468880"/>
            <a:ext cx="14100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MP v1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52314" y="2761488"/>
            <a:ext cx="16843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微信小程序原生工程：8 页全功能 + 真实微信 code2session 登录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28662" y="2843784"/>
            <a:ext cx="182880" cy="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20686" y="2340864"/>
            <a:ext cx="2050085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566" y="2487168"/>
            <a:ext cx="182880" cy="18288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7886" y="2468880"/>
            <a:ext cx="14100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03566" y="2761488"/>
            <a:ext cx="16843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ASR / TTS 接入 + 玩具端 /api/voice/turn 一站式端点（级联架构）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79915" y="2843784"/>
            <a:ext cx="182880" cy="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71939" y="2340864"/>
            <a:ext cx="2050085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54819" y="2487168"/>
            <a:ext cx="182880" cy="18288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29139" y="2468880"/>
            <a:ext cx="14100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选型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54819" y="2761488"/>
            <a:ext cx="16843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开源方案接入：语音双轨（云端 / 自部署）+ xiaozhi 玩具生态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3675888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9502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 18 个月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938528" y="396849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38528" y="3968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本轮融资覆盖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5248656"/>
            <a:ext cx="11055096" cy="0"/>
          </a:xfrm>
          <a:prstGeom prst="line">
            <a:avLst/>
          </a:prstGeom>
          <a:noFill/>
          <a:ln w="19050">
            <a:solidFill>
              <a:srgbClr val="DCD1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5148072"/>
            <a:ext cx="201168" cy="201168"/>
          </a:xfrm>
          <a:prstGeom prst="ellipse">
            <a:avLst/>
          </a:prstGeom>
          <a:solidFill>
            <a:srgbClr val="2F6C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425696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66928" y="4718304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软件公测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54380" y="5349240"/>
            <a:ext cx="0" cy="18288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5522976"/>
            <a:ext cx="25351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 v1.3 正式版上线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云端语音接入 + 演练页语音模式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专家顾问网络组建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个种子家庭打磨内容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2142" y="5148072"/>
            <a:ext cx="201168" cy="201168"/>
          </a:xfrm>
          <a:prstGeom prst="ellipse">
            <a:avLst/>
          </a:prstGeom>
          <a:solidFill>
            <a:srgbClr val="E08A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0702" y="4425696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H1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3330702" y="4718304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商业闭环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518154" y="5349240"/>
            <a:ext cx="0" cy="18288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0702" y="5522976"/>
            <a:ext cx="25351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付费订阅上线，验证单位经济模型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签约首批康复机构，SaaS 试点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「小星」玩具打样（xiaozhi 固件）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自闭症干预语料库 V1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85916" y="5148072"/>
            <a:ext cx="201168" cy="201168"/>
          </a:xfrm>
          <a:prstGeom prst="ellipse">
            <a:avLst/>
          </a:prstGeom>
          <a:solidFill>
            <a:srgbClr val="2F6C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94476" y="4425696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H2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094476" y="4718304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硬件就绪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281928" y="5349240"/>
            <a:ext cx="0" cy="18288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94476" y="5522976"/>
            <a:ext cx="25351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小星完成 3C 认证并开启预售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全双工语音升级（豆包 SC2.0）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「小星」品牌音色复刻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签约机构累计 100 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949690" y="5148072"/>
            <a:ext cx="201168" cy="201168"/>
          </a:xfrm>
          <a:prstGeom prst="ellipse">
            <a:avLst/>
          </a:prstGeom>
          <a:solidFill>
            <a:srgbClr val="4A7C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58250" y="4425696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8858250" y="4718304"/>
            <a:ext cx="2580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生态放大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045702" y="5349240"/>
            <a:ext cx="0" cy="18288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58250" y="5522976"/>
            <a:ext cx="25351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玩具量产上市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数据飞轮全速运转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专家矩阵与语料库迭代至 V2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探索海外华语家庭市场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里程碑以本轮融资到位为起点；硬件量产节奏受 3C 认证与供应链周期影响，保留调整空间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三条收入线，从订阅到软硬一体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路径设计：C 端订阅验证付费意愿 → B 端机构建立专业背书与渠道 → 硬件放大客单价与数据壁垒。三条线共用同一套专家矩阵与知识库，边际成本递减。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489960" cy="3127248"/>
          </a:xfrm>
          <a:prstGeom prst="roundRect">
            <a:avLst>
              <a:gd name="adj" fmla="val 2632"/>
            </a:avLst>
          </a:prstGeom>
          <a:solidFill>
            <a:srgbClr val="EAF1F2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2977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端家庭订阅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505456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第一步 · 已跑通计费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889504"/>
            <a:ext cx="29778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定价参考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 会员制：孪生演练 + 系统课程 + 周报；积分制已上线（演练 5 分 / 课程 2 分 / 周报 3 分）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675888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价值锚点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895344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对标机构干预费用的零头 —— 机构年支出数万元，我们定在千元级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334256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验证状态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553712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微信登录 + 积分中心全部上线，付费通道已就绪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9496" y="1901952"/>
            <a:ext cx="3489960" cy="3127248"/>
          </a:xfrm>
          <a:prstGeom prst="roundRect">
            <a:avLst>
              <a:gd name="adj" fmla="val 2632"/>
            </a:avLst>
          </a:prstGeom>
          <a:solidFill>
            <a:srgbClr val="EDF3EC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5528" y="2103120"/>
            <a:ext cx="2977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端机构 SaaS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05528" y="2505456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5528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第三步 · 渠道与背书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5528" y="2889504"/>
            <a:ext cx="29778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5528" y="3017520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产品形态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05528" y="3236976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康复机构的「AI 助教」：家庭延伸干预工具 + 师训支持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05528" y="3675888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收费方式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05528" y="3895344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按席位 / 机构年费授权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05528" y="4334256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战略价值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05528" y="4553712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缓解 30 万人才缺口；一家机构即一个获客入口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32064" y="1901952"/>
            <a:ext cx="3489960" cy="3127248"/>
          </a:xfrm>
          <a:prstGeom prst="roundRect">
            <a:avLst>
              <a:gd name="adj" fmla="val 2632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88096" y="2103120"/>
            <a:ext cx="2977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 AI 玩具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388096" y="2505456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8096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第二步 · 放大客单价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88096" y="2889504"/>
            <a:ext cx="29778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8096" y="3017520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收入结构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8096" y="3236976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硬件一次性销售 + ¥19-29 / 月大脑订阅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88096" y="3675888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已被验证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88096" y="3895344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「硬件 + 订阅制内容」模式由跃然创新（BubblePal）验证，获 2 亿元 A 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88096" y="4334256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转化逻辑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88096" y="4553712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软件订阅用户自然转化为硬件用户，硬件用户反哺数据飞轮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5303520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5303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029968" y="5303520"/>
            <a:ext cx="9226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同一个孩子，家长在小程序里学方法，孩子在玩具上练方法，机构在后台看进展 —— 三个付费方，一套大脑，一份成本。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对标与验证：跃然创新（BubblePal）A 轮 2 亿元（中金领投，2025）；央视财经（2025-11）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从千亿家庭支出切入，聚焦可服务市场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TAM / SAM / SOM 均为本团队基于公开数据的测算假设，可按路演口径调整 —— 我们更看重三年内可触达的那一万组家庭。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90104" y="1993392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377440"/>
            <a:ext cx="3310128" cy="1463040"/>
          </a:xfrm>
          <a:prstGeom prst="roundRect">
            <a:avLst>
              <a:gd name="adj" fmla="val 4375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1896" y="2779776"/>
            <a:ext cx="2688336" cy="658368"/>
          </a:xfrm>
          <a:prstGeom prst="roundRect">
            <a:avLst>
              <a:gd name="adj" fmla="val 8333"/>
            </a:avLst>
          </a:prstGeom>
          <a:solidFill>
            <a:srgbClr val="EDF3EC"/>
          </a:solidFill>
          <a:ln w="12700">
            <a:solidFill>
              <a:srgbClr val="EDF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0848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9016" y="24688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39912" y="2871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5 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39912" y="30723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亿元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1847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亿元 / 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67328" y="19202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中国自闭症家庭康复干预总支出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67328" y="2212848"/>
            <a:ext cx="3465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300 万患儿家庭 × 年均干预支出 3 万元（假设值）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761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26883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亿元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67328" y="276148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家庭端数字化干预 + AI 玩具交集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67328" y="3054096"/>
            <a:ext cx="3465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玩具 2025 年 290 亿元 + 数字疗法家庭端渗透（假设值）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6027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9888" y="3529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亿元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767328" y="360273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年目标：10 万付费家庭 ARPU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67328" y="3895344"/>
            <a:ext cx="3465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万付费家庭 × 3000 元 / 年 ARPU（假设值）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572000"/>
            <a:ext cx="11055096" cy="1133856"/>
          </a:xfrm>
          <a:prstGeom prst="roundRect">
            <a:avLst>
              <a:gd name="adj" fmla="val 7258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三年目标（本轮融资要交付的）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" y="49743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组付费家庭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681728" y="4754880"/>
            <a:ext cx="6574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10,000 组家庭 × 3,000 元 / 年 ARPU ≈ 3,000 万元年收入　——　这是 SOM（5 年 10 万家庭 / 3 亿元）的第一个十分之一，也是我们要先证明的那一段。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数据来源：中商产业研究院（2025）；智研咨询（2024-12）；TAM / SAM / SOM 为本团队基于公开数据的测算假设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错位竞争：专业干预 × AI 个性化的空白带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机构连锁专业但贵且不进家庭；线上平台便宜但缺乏个性化与陪伴；通用 AI 玩具有场景但没有干预专业性。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0149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91640"/>
                <a:gridCol w="1463040"/>
                <a:gridCol w="1463040"/>
                <a:gridCol w="137160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玩家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干预专业性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家庭场景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个性化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硬件形态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价格门槛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大米和小米等机构连锁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强（线下康复）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弱（以机构为主）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恩启 / ALSOLIFE 等线上平台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中（课程与评估）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弱-中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 AI 玩具（跃然 BubblePal 等）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弱（泛陪伴）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星童猫咪（本项目）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强（专家矩阵 + 循证库）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强（家庭即主场）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强（档案级个性化）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原型已就绪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572000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4864608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828032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专业性是架构级的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5175504"/>
            <a:ext cx="348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位专家 Agent + 循证 RAG 不是内容包装，是代码里的真实编排（lib/agents.ts），可审计可迭代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9496" y="4864608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23816" y="4828032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个性化是档案级的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49496" y="5175504"/>
            <a:ext cx="348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基于星星档案生成个性化「数字孪生」交互对象，每个孩子对应一个不同的模拟者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2064" y="4864608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06384" y="4828032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硬件是通路不是噱头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132064" y="5175504"/>
            <a:ext cx="348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玩具是让干预进入孩子日常的唯一形态，也是拿不到的数据来源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竞争信息依据公开资料与产品实测整理（2026-08）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三年，一万组家庭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这不是一个愿望，是一个可以拆解到底的获客模型。每一组家庭从哪条渠道来，我们算得清楚。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6400800" cy="3346704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665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累计服务家庭数（年末口径）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3232" y="2395728"/>
          <a:ext cx="610819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296912" y="1920240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达成一万时的来源构成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96912" y="2322576"/>
            <a:ext cx="432511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16368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942832" y="246888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机构渠道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16368" y="28712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家签约机构 × 平均 150 组在册家庭 × 40% 付费转化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96912" y="3346704"/>
            <a:ext cx="432511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16368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942832" y="3493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线上与口碑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16368" y="389534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小程序自然流量 + 家长社区口碑 + 短视频内容获客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96912" y="4370832"/>
            <a:ext cx="432511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16368" y="4498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942832" y="451713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硬件首发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516368" y="49194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小星玩具首批预售，软硬一体打包转化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5504688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4EDE0"/>
          </a:solidFill>
          <a:ln w="9525">
            <a:solidFill>
              <a:srgbClr val="E6DA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" y="55046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为什么这个数可信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2944368" y="5559552"/>
            <a:ext cx="8311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主渠道是 B 端机构而非买量 —— 一家康复机构天然握着上百组精准家庭，SaaS 是渠道而非单纯收入线。CAC 因此可控，不依赖投放预算。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机构规模、转化率与线上获客系数为本团队测算假设，随试点数据滚动修正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本轮融资：把 Demo 变成生意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软件已经跑通，硬件链路已经打通。这 300 万要买的不是探索，是把已验证的东西放大到一万组家庭。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39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本轮融资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7824" y="24505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048256" y="2761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7824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天使轮 · 出让 10%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77824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个月跑道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05072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资金用途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005072" y="2212848"/>
          <a:ext cx="3200400" cy="19751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7516368" y="192024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个月里程碑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16368" y="23865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90688" y="23042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小程序正式版上线，付费家庭达 1 万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16368" y="28437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0688" y="27614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 100 家康复机构，完成 SaaS 试点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16368" y="33009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0688" y="32186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玩具完成打样、3C 认证并开启预售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16368" y="37581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90688" y="36758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干预语料库与专家矩阵迭代至 V2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4443984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4681728"/>
            <a:ext cx="2571750" cy="54864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产品研发 40%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66928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语音全双工升级 · 专家矩阵 V2 · 端侧 / 自部署选项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394710" y="4681728"/>
            <a:ext cx="2571750" cy="54864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94710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硬件供应链 25%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3394710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小星打样 · 3C 认证 · 首批量产备货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22492" y="4681728"/>
            <a:ext cx="257175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22492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内容与专家网络 20%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222492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专家顾问团审校 · 语料库扩充至 V1 · 课程扩容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050274" y="4681728"/>
            <a:ext cx="2571750" cy="54864"/>
          </a:xfrm>
          <a:prstGeom prst="rect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0274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市场与运营 15%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9050274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种子家庭运营 · 机构 BD · 品牌与内容获客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资金用途比例为示意分配，最终以融资协议与预算为准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懂技术，更懂这个人群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技术、产品与商务的完整配置；专业内容由专家顾问团审校，产品与医学建议之间设有清晰的责任边界。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2558034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57984"/>
            <a:ext cx="566928" cy="56692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17904" y="2194560"/>
            <a:ext cx="1351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17904" y="2487168"/>
            <a:ext cx="13510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CEO / 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0562" y="22128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2944368"/>
            <a:ext cx="2045970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90672"/>
            <a:ext cx="20459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哈工大人工智能研究院 · 全栈工程师、连续创业者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9282" y="1901952"/>
            <a:ext cx="2558034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5314" y="2157984"/>
            <a:ext cx="566928" cy="566928"/>
          </a:xfrm>
          <a:prstGeom prst="ellipse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5314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50258" y="2194560"/>
            <a:ext cx="1351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陈婉仪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50258" y="2487168"/>
            <a:ext cx="13510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联合创始人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2916" y="22128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55314" y="2944368"/>
            <a:ext cx="2045970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5314" y="3090672"/>
            <a:ext cx="20459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美国印第安纳大学本硕 · 计算机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1636" y="1901952"/>
            <a:ext cx="2558034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87668" y="2157984"/>
            <a:ext cx="566928" cy="566928"/>
          </a:xfrm>
          <a:prstGeom prst="ellipse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7668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82612" y="2194560"/>
            <a:ext cx="1351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高骏杰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82612" y="2487168"/>
            <a:ext cx="13510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联合创始人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75270" y="22128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487668" y="2944368"/>
            <a:ext cx="2045970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7668" y="3090672"/>
            <a:ext cx="20459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本科宾夕法尼亚州立大学（PSU）· 硕士哥伦比亚大学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63990" y="1901952"/>
            <a:ext cx="2558034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0022" y="2157984"/>
            <a:ext cx="566928" cy="566928"/>
          </a:xfrm>
          <a:prstGeom prst="ellipse">
            <a:avLst/>
          </a:prstGeom>
          <a:solidFill>
            <a:srgbClr val="7A8B8E"/>
          </a:solidFill>
          <a:ln w="12700">
            <a:solidFill>
              <a:srgbClr val="7A8B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0022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14966" y="2194560"/>
            <a:ext cx="1351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期权池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14966" y="2487168"/>
            <a:ext cx="13510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B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未来团队 / 顾问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07624" y="22128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A8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320022" y="2944368"/>
            <a:ext cx="2045970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0022" y="3090672"/>
            <a:ext cx="20459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核心技术与商务人才激励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4315968"/>
            <a:ext cx="11055096" cy="1225296"/>
          </a:xfrm>
          <a:prstGeom prst="roundRect">
            <a:avLst>
              <a:gd name="adj" fmla="val 6716"/>
            </a:avLst>
          </a:prstGeom>
          <a:solidFill>
            <a:srgbClr val="EAF1F2"/>
          </a:solidFill>
          <a:ln w="9525">
            <a:solidFill>
              <a:srgbClr val="D5E4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4462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专家顾问网络（组建中）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77824" y="4846320"/>
            <a:ext cx="329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儿童心理 / 发展行为儿科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7824" y="5120640"/>
            <a:ext cx="329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内容审校与专业背书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355592" y="4846320"/>
            <a:ext cx="329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持证康复师（BCBA 等）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55592" y="5120640"/>
            <a:ext cx="329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干预方法与课程体系把关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833360" y="4846320"/>
            <a:ext cx="329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硬件供应链合伙人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33360" y="5120640"/>
            <a:ext cx="329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量产、认证与成本管理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6583680" cy="6583680"/>
          </a:xfrm>
          <a:prstGeom prst="ellipse">
            <a:avLst/>
          </a:prstGeom>
          <a:solidFill>
            <a:srgbClr val="20343A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291840"/>
            <a:ext cx="6583680" cy="6583680"/>
          </a:xfrm>
          <a:prstGeom prst="ellipse">
            <a:avLst/>
          </a:prstGeom>
          <a:solidFill>
            <a:srgbClr val="20343A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A R E   ·   A U T I S M   T O G E T H E 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975104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让每一颗星星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都被温柔地看见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717036" y="3931920"/>
            <a:ext cx="4754880" cy="0"/>
          </a:xfrm>
          <a:prstGeom prst="line">
            <a:avLst/>
          </a:prstGeom>
          <a:noFill/>
          <a:ln w="9525">
            <a:solidFill>
              <a:srgbClr val="2E46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187952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星童猫咪团队 · 三年，一万组家庭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6928" y="46634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2 小时的专家在场，到 24 小时的温柔陪伴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5778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Peter 张程 · +86 13159877586 / +852 44358635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8887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github.com/zhangcheng0688/xingtong-cat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星童猫咪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星童猫咪 · 2026 融资路演</dc:title>
  <dc:subject>PptxGenJS Presentation</dc:subject>
  <dc:creator>星童猫咪团队</dc:creator>
  <cp:lastModifiedBy>星童猫咪团队</cp:lastModifiedBy>
  <cp:revision>1</cp:revision>
  <dcterms:created xsi:type="dcterms:W3CDTF">2026-08-30T09:19:35Z</dcterms:created>
  <dcterms:modified xsi:type="dcterms:W3CDTF">2026-08-30T09:19:35Z</dcterms:modified>
</cp:coreProperties>
</file>