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开场只讲一句话：我们要让每一颗星星都被温柔听懂。三年一万组家庭，是我们对这件事的量化承诺。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使命页不念稿。右侧三个数字讲完停顿一下，再点底部：一万家庭是可拆解的范式，不是口号。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1:2500 与 1:130 两个口径基数不同，主动说明。落点：缺口在「人」，所以解法必须绕过「人」的稀缺。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三个入口不是三条产品线，是同一个大脑的三种形态。强调闭环：学-练-反馈。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先演示再讲：建档 → 生成场景 → 演练 → 报告，全程约 90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这页回应「为什么不用裸调 API」：儿童场景容错率是零，稳定层是产品的地基不是可选项。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投资人问壁垒时：Agent 矩阵的壁垒不在提示词，在编排契约 + 数据闭环 + 可审计性。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硬件不是噱头是通路：玩具是干预进入孩子日常的唯一形态。固件站在 xiaozhi 开源生态上，省一年开发。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飞轮的关键是「玩具回传数据」：硬件让数据采集进入家庭日常，这是纯软件竞品补不上的缺口。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三条线讲成「递进」：C 端验证、硬件放大、B 端背书与渠道。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不贬低竞品。口径说清：TAM/SAM/SOM 是测算，竞争定位是「交集空白」。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机构渠道是关键假设，答辩说清「机构为什么签」：他们缺家庭延伸工具，我们免费降低师训成本。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如果被问估值：300 万换 10%，投后 3000 万，对应的是已经跑通的系统与一万家庭的可拆解路径。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结尾不要多说。念完这句话，停两秒，等对方开口。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949440" cy="6949440"/>
          </a:xfrm>
          <a:prstGeom prst="ellipse">
            <a:avLst/>
          </a:prstGeom>
          <a:solidFill>
            <a:srgbClr val="20343A"/>
          </a:solidFill>
          <a:ln w="12700">
            <a:solidFill>
              <a:srgbClr val="203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852160" cy="5852160"/>
          </a:xfrm>
          <a:prstGeom prst="ellipse">
            <a:avLst/>
          </a:prstGeom>
          <a:solidFill>
            <a:srgbClr val="20343A"/>
          </a:solidFill>
          <a:ln w="12700">
            <a:solidFill>
              <a:srgbClr val="203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XINGTONG CAT · BUSINESS PLAN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让每颗星星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都被温柔听懂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驱动的自闭症家庭干预伙伴 —— 一个大脑，连接小程序、课程与玩具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4114800"/>
            <a:ext cx="4480560" cy="56692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1148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使命 · 三年服务 10,000 组自闭症家庭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5029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 · 多专家 Agent 矩阵 · 循环干预课程 · AI 玩具「小星」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全栈千问 × LangChain 稳定层 × RAGFlow 循证引擎 · 全链路已跑通</a:t>
            </a:r>
            <a:endParaRPr lang="en-US" sz="1100" dirty="0"/>
          </a:p>
        </p:txBody>
      </p:sp>
      <p:pic>
        <p:nvPicPr>
          <p:cNvPr id="12" name="Image 0" descr="/Users/chenwanyi/Documents/kimi/tasks/2026-08-30/03-45-57-d69526cc/xingtong-cat/docs/deck/img/i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554480"/>
            <a:ext cx="3017520" cy="2798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6928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星童猫咪团队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MISSION · 使命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把专业干预，带进每一个普通家庭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他们被称为「星星的孩子」。我们相信：AI 第一次让「专业级的家庭干预」摆脱稀缺供给，成为每个家庭都负担得起的日常。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577840" cy="2651760"/>
          </a:xfrm>
          <a:prstGeom prst="roundRect">
            <a:avLst>
              <a:gd name="adj" fmla="val 3103"/>
            </a:avLst>
          </a:prstGeom>
          <a:solidFill>
            <a:srgbClr val="F4EDE0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121408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我们为什么存在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505456"/>
            <a:ext cx="4992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确诊之后的头三年是干预的黄金窗口，但专业资源卡在城市、卡在价格、卡在排期。家长才是最了解孩子的人，却最不被赋能。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3438144"/>
            <a:ext cx="4992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星童猫咪把「专家的方法」编译进 AI：家长在小程序里演练，孩子在玩具上练习，家庭第一次成为干预的主场。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10528" y="19019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253728" y="195681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 CDC（2025）儿童确诊比例，筛查普及后仍在上升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10528" y="2752344"/>
            <a:ext cx="51114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807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 万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253728" y="286207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 0-14 岁自闭症儿童（行业报告口径）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0528" y="3657600"/>
            <a:ext cx="51114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37124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 万+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253728" y="3767328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中国谱系障碍人群总数（中国残联 2023 普查口径）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864608"/>
            <a:ext cx="11055096" cy="1554480"/>
          </a:xfrm>
          <a:prstGeom prst="roundRect">
            <a:avLst>
              <a:gd name="adj" fmla="val 5882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 · 10,000 组家庭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2688" y="56327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十年 · 成为百万家庭的日常伙伴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7648" y="5120640"/>
            <a:ext cx="4837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一万组家庭不是市场规模的零头，而是一套可以被拆解、被验证、被复制的家庭干预新范式 —— 谁先证明它，谁就定义这个品类。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数据来源：美国 CDC（2025）；《中国自闭症教育康复行业发展状况报告》；中国残联 2023 年残疾人普查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PROBLEM · 痛点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方法不缺，缺的是能把方法带进家庭的人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三组数字，说明这个缺口有多深 —— 二十年来没有结构性改善。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749040" cy="2340864"/>
          </a:xfrm>
          <a:prstGeom prst="roundRect">
            <a:avLst>
              <a:gd name="adj" fmla="val 3906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9456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2500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77824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持证专业人员与患儿比例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3346704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全国持证专业人员约 1000 人，对应 300-500 万患儿；残联在册康复教师口径下为 1:130。两个口径并列，缺口量级都在「万」以上。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08576" y="19476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万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7077456" y="2048256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康复人才缺口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8576" y="258775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小时/周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7077456" y="2688336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最低干预强度，需持续 2-3 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08576" y="32278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52.4%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077456" y="3328416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家庭有一人放弃工作全职照看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517136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846320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4791456"/>
            <a:ext cx="307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家长不懂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66928" y="5157216"/>
            <a:ext cx="3477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孩子不愿沟通、家长难以共情；不合理的干预反而加剧病情，身心与经济双重承压。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5592" y="4846320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5592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7928" y="4791456"/>
            <a:ext cx="307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机构贵且远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55592" y="5157216"/>
            <a:ext cx="3477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机构年支出数万元，超半数家庭难以承担；且干预发生在机构，不在孩子真实的生活场景。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44256" y="4846320"/>
            <a:ext cx="274320" cy="27432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4256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6592" y="4791456"/>
            <a:ext cx="3075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干预不及时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44256" y="5157216"/>
            <a:ext cx="34777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诊断在提前，服务供给没跟上 —— 等待排期的几个月，正是干预的黄金窗口。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数据来源：中国新闻网（2026-04）；北京大学第六医院贾美香主任医师公开访谈；《中国孤独症家长需求调查问卷》；中国残联 2023 年残疾人普查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SOLUTION · 解决方案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 AI 大脑，三个触达家庭的入口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家长先学会教，孩子再日常练 —— 软件与硬件共用一套专家矩阵与循证知识库，边际成本递减。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37076" y="1993392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37076" y="21762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星童大脑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37076" y="26517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位专家 Agent 矩阵 · 循证知识引擎（RAG）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儿童安全红线 · 档案级个性化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4476" y="3602736"/>
            <a:ext cx="0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785616"/>
            <a:ext cx="3441192" cy="2103120"/>
          </a:xfrm>
          <a:prstGeom prst="roundRect">
            <a:avLst>
              <a:gd name="adj" fmla="val 3913"/>
            </a:avLst>
          </a:prstGeom>
          <a:solidFill>
            <a:srgbClr val="EAF1F2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3968496"/>
            <a:ext cx="2965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家长入口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4224528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 · 演练场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" y="460857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60857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已上线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4992624"/>
            <a:ext cx="2965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星星档案建档 → AI 生成「数字孪生」孩子 → 家长安全演练沟通技巧，观察专家逐句点评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4476" y="3602736"/>
            <a:ext cx="0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73880" y="3785616"/>
            <a:ext cx="3441192" cy="2103120"/>
          </a:xfrm>
          <a:prstGeom prst="roundRect">
            <a:avLst>
              <a:gd name="adj" fmla="val 3913"/>
            </a:avLst>
          </a:prstGeom>
          <a:solidFill>
            <a:srgbClr val="EDF3EC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1624" y="3968496"/>
            <a:ext cx="2965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课程入口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11624" y="4224528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循环干预互动课程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11624" y="460857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1624" y="460857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已上线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1624" y="4992624"/>
            <a:ext cx="2965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门循证课程、42 节互动课，讲师 Agent 对话式授课，按孩子档案个性化排序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4476" y="3602736"/>
            <a:ext cx="0" cy="0"/>
          </a:xfrm>
          <a:prstGeom prst="line">
            <a:avLst/>
          </a:prstGeom>
          <a:noFill/>
          <a:ln w="19050">
            <a:solidFill>
              <a:srgbClr val="7FBEC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80832" y="3785616"/>
            <a:ext cx="3441192" cy="2103120"/>
          </a:xfrm>
          <a:prstGeom prst="roundRect">
            <a:avLst>
              <a:gd name="adj" fmla="val 3913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8576" y="3968496"/>
            <a:ext cx="2965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孩子入口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8576" y="4224528"/>
            <a:ext cx="2965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玩具「小星」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18576" y="4608576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8576" y="460857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原型就绪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8576" y="4992624"/>
            <a:ext cx="29657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语音陪伴 + 情绪回应 + 干预游戏化，把练习嵌入孩子的日常生活，24 小时温柔在场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163056"/>
            <a:ext cx="11055096" cy="676656"/>
          </a:xfrm>
          <a:prstGeom prst="roundRect">
            <a:avLst>
              <a:gd name="adj" fmla="val 10811"/>
            </a:avLst>
          </a:prstGeom>
          <a:solidFill>
            <a:srgbClr val="F4EDE0"/>
          </a:solidFill>
          <a:ln w="9525">
            <a:solidFill>
              <a:srgbClr val="E6DA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6163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F0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为什么是一个大脑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52928" y="6199632"/>
            <a:ext cx="8403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家长在小程序里学的方法，孩子转头就在玩具上练 —— 数据与档案全程打通，干预第一次形成「学 - 练 - 反馈」的家庭闭环。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PRODUCT · 产品实景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 v1.3：全链路已真实跑通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开源仓库 github.com/zhangcheng0688/xingtong-cat，微信开发者工具导入即跑，可现场演示。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82496" y="2084832"/>
            <a:ext cx="0" cy="475488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20116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星星档案建档 → 一句话生成孪生场景 → 实时演练 + 观察专家逐句点评 → 结构化总结报告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871216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8094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82496" y="3054096"/>
            <a:ext cx="0" cy="475488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29809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 门循证干预课程、42 节互动课，按孩子档案个性化排序，讲师 Agent 对话式授课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84048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5020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682496" y="4023360"/>
            <a:ext cx="0" cy="475488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395020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话题分类 + 专家答疑 + 点赞评论，家长互助氛围，真实干预案例沉淀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809744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4E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1947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82496" y="4992624"/>
            <a:ext cx="0" cy="475488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49194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孩子档案管理 · 积分余额 · 周报入口 · 微信 / 手机号双登录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870448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70448"/>
            <a:ext cx="497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商业化已跑通　注册送 30 积分 · 演练 5 积分 / 场 · 课程 2 积分 / 节 · 周报 3 积分 / 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175564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真机界面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62572" y="1993392"/>
            <a:ext cx="2075688" cy="4059936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3D9C7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pic>
        <p:nvPicPr>
          <p:cNvPr id="25" name="Image 0" descr="/Users/chenwanyi/Documents/kimi/tasks/2026-08-30/03-45-57-d69526cc/xingtong-cat/docs/deck/img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8292" y="2039112"/>
            <a:ext cx="1984248" cy="3877056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9066276" y="1993392"/>
            <a:ext cx="2075688" cy="4059936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3D9C7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pic>
        <p:nvPicPr>
          <p:cNvPr id="27" name="Image 1" descr="/Users/chenwanyi/Documents/kimi/tasks/2026-08-30/03-45-57-d69526cc/xingtong-cat/docs/deck/img/lear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11996" y="2039112"/>
            <a:ext cx="1984248" cy="38770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TECHNOLOGY · 技术底座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全栈自研链路，每一层都已实测跑通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面向儿童场景，我们把「稳定性」放在模型能力之前：四重保险，永不空答，全程可审计。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489960" cy="3200400"/>
          </a:xfrm>
          <a:prstGeom prst="roundRect">
            <a:avLst>
              <a:gd name="adj" fmla="val 2571"/>
            </a:avLst>
          </a:prstGeom>
          <a:solidFill>
            <a:srgbClr val="EAF1F2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84832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· 模型层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全栈千问（阿里百炼）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04672" y="2779776"/>
            <a:ext cx="3014472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907792"/>
            <a:ext cx="3014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对话大模型：多专家 Agent 与课程的推理内核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语音识别 qwen3-omni-flash · 语音合成 qwen3-tts-flash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向量检索 text-embedding-v4 · OpenAI 兼容网关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文字 / 语音 / 向量一个供应商打通，链路最短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9496" y="1901952"/>
            <a:ext cx="3489960" cy="3200400"/>
          </a:xfrm>
          <a:prstGeom prst="roundRect">
            <a:avLst>
              <a:gd name="adj" fmla="val 2571"/>
            </a:avLst>
          </a:prstGeom>
          <a:solidFill>
            <a:srgbClr val="EDF3EC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7240" y="2084832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· 稳定层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7240" y="2340864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LangChain 编排内核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587240" y="2779776"/>
            <a:ext cx="3014472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7240" y="2907792"/>
            <a:ext cx="3014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30s 超时熔断 + 指数退避自动重试 ×3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主模型异常时备用模型自动降级接管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zod 结构化输出校验，坏 JSON 不入库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COSTAR 提示词工程 + 字段级契约校验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2064" y="1901952"/>
            <a:ext cx="3489960" cy="3200400"/>
          </a:xfrm>
          <a:prstGeom prst="roundRect">
            <a:avLst>
              <a:gd name="adj" fmla="val 2571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9808" y="2084832"/>
            <a:ext cx="3014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· 知识层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69808" y="2340864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RAGFlow 循证引擎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369808" y="2779776"/>
            <a:ext cx="3014472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9808" y="2907792"/>
            <a:ext cx="30144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篇循证干预知识：ABA / DTT / PRT / ESDM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深度知识库检索 + 本地引擎双后端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三道回退降级：任何故障下永不空答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专家可审校、可溯源，内容不是黑盒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358384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5358384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安全红线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95728" y="5431536"/>
            <a:ext cx="8860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医疗诊断类问题一律转介专业机构 · 全量对话内容安全过滤 · 儿童隐私数据最小化采集 · 语音链路端到端实测：ASR → 大脑 → TTS 全程 &lt; 3 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全部组件已在生产架构中实测：语音端到端、RAG 检索、积分计费、双登录均已跑通（2026-08）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MATRIX · 专家矩阵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位 AI 专家，组成每个家庭的随身干预团队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不是聊天机器人列表，是有明确分工、契约与红线的工程化编排 —— 全部在 lib/agents.ts 中可审计。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901952"/>
            <a:ext cx="2571750" cy="64008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8483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观察专家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450592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逐句点评家长演练，指出可改进的具体话术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4710" y="1901952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4710" y="1901952"/>
            <a:ext cx="2571750" cy="64008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7590" y="208483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演练教练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77590" y="2450592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扮演「数字孪生」孩子，生成个性化演练场景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2492" y="1901952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2492" y="1901952"/>
            <a:ext cx="257175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5372" y="208483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课程讲师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5372" y="2450592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对话式讲授循证干预课，按档案调节奏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0274" y="1901952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0274" y="1901952"/>
            <a:ext cx="257175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3154" y="2084832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周报分析师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3154" y="2450592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汇总一周互动数据，给出家庭干预建议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602736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3602736"/>
            <a:ext cx="2571750" cy="64008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785616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社区答疑员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4151376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解答家长日常疑问，沉淀案例知识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94710" y="3602736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94710" y="3602736"/>
            <a:ext cx="2571750" cy="64008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7590" y="3785616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档案顾问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77590" y="4151376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维护星星档案，让每个孩子被「记住」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2492" y="3602736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2492" y="3602736"/>
            <a:ext cx="2571750" cy="64008"/>
          </a:xfrm>
          <a:prstGeom prst="rect">
            <a:avLst/>
          </a:prstGeom>
          <a:solidFill>
            <a:srgbClr val="B44B2F"/>
          </a:solidFill>
          <a:ln w="12700">
            <a:solidFill>
              <a:srgbClr val="B44B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5372" y="3785616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安全守门员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5372" y="4151376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全程内容过滤，敏感问题转介专业机构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50274" y="3602736"/>
            <a:ext cx="2571750" cy="1536192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50274" y="3602736"/>
            <a:ext cx="2571750" cy="64008"/>
          </a:xfrm>
          <a:prstGeom prst="rect">
            <a:avLst/>
          </a:prstGeom>
          <a:solidFill>
            <a:srgbClr val="8C6D1F"/>
          </a:solidFill>
          <a:ln w="12700">
            <a:solidFill>
              <a:srgbClr val="8C6D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3154" y="3785616"/>
            <a:ext cx="2205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玩具伙伴 toyChat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233154" y="4151376"/>
            <a:ext cx="2205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孩子的语气与节奏，游戏里练干预目标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5504688"/>
            <a:ext cx="11055096" cy="841248"/>
          </a:xfrm>
          <a:prstGeom prst="roundRect">
            <a:avLst>
              <a:gd name="adj" fmla="val 8696"/>
            </a:avLst>
          </a:prstGeom>
          <a:solidFill>
            <a:srgbClr val="EAF1F2"/>
          </a:solidFill>
          <a:ln w="9525">
            <a:solidFill>
              <a:srgbClr val="D5E4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550468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工程化而非拼装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852928" y="5559552"/>
            <a:ext cx="8403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JSON 输出契约 · 字段级校验拦截异常 · 历史窗口截断控制成本 · 每位专家独立 COSTAR 提示词档案 —— 可以逐位审计、逐位迭代、逐位替换。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HARDWARE · AI 玩具「小星」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把干预，做成孩子愿意抱住的伙伴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软件教家长，玩具陪孩子 —— 同一套大脑，从屏幕里走进孩子的怀里。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486400" cy="3144822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pic>
        <p:nvPicPr>
          <p:cNvPr id="6" name="Image 0" descr="/Users/chenwanyi/Documents/kimi/tasks/2026-08-30/03-45-57-d69526cc/xingtong-cat/docs/deck/img/toy-scen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011680"/>
            <a:ext cx="5266944" cy="2925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19088" y="1920240"/>
            <a:ext cx="5202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IP 设计演绎（站在巨人肩膀上）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19088" y="234086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93408" y="2286000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Hugging Face Reachy Mini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93408" y="2542032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开源桌面机器人标杆：圆润白机身 + 大屏眼睛 + 会动的触角 → 我们把触角演绎为一双会动的猫耳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19088" y="2999232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944368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Casio Moflin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93408" y="3200400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毛绒亲和力与「无攻击性」体态 → 亲肤材质 + 胸前星标呼吸灯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19088" y="3657600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360273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Ropet（CES 2025 明星）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93408" y="3858768"/>
            <a:ext cx="4928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大眼睛、小身体比例激发保护欲 → 放大眼屏占比，去掉一切尖锐线条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19088" y="4297680"/>
            <a:ext cx="5202936" cy="1444752"/>
          </a:xfrm>
          <a:prstGeom prst="roundRect">
            <a:avLst>
              <a:gd name="adj" fmla="val 5063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4425696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硬件方案（原型就绪）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56832" y="4754880"/>
            <a:ext cx="4727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ESP32-S3 · 4 麦克风阵列 · 5W 扬声器 · 情绪灯环 · 猫耳舵机 ×2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BOM 成本 ¥60-100 · 固件基于开源 xiaozhi-esp32（MIT）二次开发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语音直连小程序同一套 /api/voice/turn 大脑，端云一体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设计参考：github.com/pollen-robotics/reachy_mini（开源 CAD）；casio.com/us/moflin；Ropet CES 2025 公开发布资料；固件生态：github.com/78/xiaozhi-esp32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FLYWHEEL · 数据飞轮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每一次互动，都让大脑更懂这个孩子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 AI 玩具没有档案，机构没有家庭日常数据 —— 只有我们同时拥有两者。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" y="2176272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20343A"/>
          </a:solidFill>
          <a:ln w="9525">
            <a:solidFill>
              <a:srgbClr val="3A5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644" y="2377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星星档案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80644" y="274320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孩子的能力画像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与干预目标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3180" y="2862072"/>
            <a:ext cx="219456" cy="0"/>
          </a:xfrm>
          <a:prstGeom prst="line">
            <a:avLst/>
          </a:prstGeom>
          <a:noFill/>
          <a:ln w="19050">
            <a:solidFill>
              <a:srgbClr val="E08A1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8356" y="2176272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20343A"/>
          </a:solidFill>
          <a:ln w="9525">
            <a:solidFill>
              <a:srgbClr val="3A54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8356" y="2377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家长演练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848356" y="274320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小程序里学会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怎么教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50892" y="2862072"/>
            <a:ext cx="219456" cy="0"/>
          </a:xfrm>
          <a:prstGeom prst="line">
            <a:avLst/>
          </a:prstGeom>
          <a:noFill/>
          <a:ln w="19050">
            <a:solidFill>
              <a:srgbClr val="E08A1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16068" y="2176272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20343A"/>
          </a:solidFill>
          <a:ln w="9525">
            <a:solidFill>
              <a:srgbClr val="3A5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6068" y="2377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玩具互动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116068" y="274320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孩子在日常中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真实练习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18604" y="2862072"/>
            <a:ext cx="219456" cy="0"/>
          </a:xfrm>
          <a:prstGeom prst="line">
            <a:avLst/>
          </a:prstGeom>
          <a:noFill/>
          <a:ln w="19050">
            <a:solidFill>
              <a:srgbClr val="E08A1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83780" y="2176272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20343A"/>
          </a:solidFill>
          <a:ln w="9525">
            <a:solidFill>
              <a:srgbClr val="3A54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3780" y="2377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周报洞察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83780" y="274320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结构化进展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反哺家庭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86316" y="2862072"/>
            <a:ext cx="219456" cy="0"/>
          </a:xfrm>
          <a:prstGeom prst="line">
            <a:avLst/>
          </a:prstGeom>
          <a:noFill/>
          <a:ln w="19050">
            <a:solidFill>
              <a:srgbClr val="E08A1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51492" y="2176272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E08A1E"/>
          </a:solidFill>
          <a:ln w="9525">
            <a:solidFill>
              <a:srgbClr val="3A54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1492" y="2377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档案加深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51492" y="2743200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2E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个性化更准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2E1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干预更有效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" y="373075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⟲ 回到第一步，螺旋上升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297680"/>
            <a:ext cx="11055096" cy="0"/>
          </a:xfrm>
          <a:prstGeom prst="line">
            <a:avLst/>
          </a:prstGeom>
          <a:noFill/>
          <a:ln w="9525">
            <a:solidFill>
              <a:srgbClr val="2E46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617720"/>
            <a:ext cx="146304" cy="146304"/>
          </a:xfrm>
          <a:prstGeom prst="ellipse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572000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干预语料库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4919472"/>
            <a:ext cx="348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真实家庭场景下的演练与互动语料，是任何通用模型拿不到的训练资产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9496" y="4617720"/>
            <a:ext cx="146304" cy="146304"/>
          </a:xfrm>
          <a:prstGeom prst="ellipse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3816" y="4572000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档案级个性化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49496" y="4919472"/>
            <a:ext cx="348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每个孩子对应一个独特的「数字孪生」，迁移成本随使用时间递增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2064" y="4617720"/>
            <a:ext cx="146304" cy="146304"/>
          </a:xfrm>
          <a:prstGeom prst="ellipse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06384" y="4572000"/>
            <a:ext cx="321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专家网络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132064" y="4919472"/>
            <a:ext cx="3489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循证知识库由康复专家审校共建，专业背书构成内容护城河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 MODEL · 商业模式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三条收入线，从订阅到软硬一体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端订阅验证付费意愿 → 硬件放大客单价与数据壁垒 → B 端机构建立专业背书与渠道。三条线共用同一套大脑。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489960" cy="3127248"/>
          </a:xfrm>
          <a:prstGeom prst="roundRect">
            <a:avLst>
              <a:gd name="adj" fmla="val 2632"/>
            </a:avLst>
          </a:prstGeom>
          <a:solidFill>
            <a:srgbClr val="EAF1F2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2977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端家庭订阅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50545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 · 计费已跑通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29778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产品形态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小程序会员制：孪生演练 + 系统课程 + 周报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675888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积分制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895344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注册送 30 积分；演练 5 / 课程 2 / 周报 3，三档套餐随时加购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334256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价值锚点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553712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对标机构年支出数万元的零头 —— 我们定在千元级 / 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9496" y="1901952"/>
            <a:ext cx="3489960" cy="3127248"/>
          </a:xfrm>
          <a:prstGeom prst="roundRect">
            <a:avLst>
              <a:gd name="adj" fmla="val 2632"/>
            </a:avLst>
          </a:prstGeom>
          <a:solidFill>
            <a:srgbClr val="FDF3E4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5528" y="2103120"/>
            <a:ext cx="2977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 AI 玩具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05528" y="250545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5528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第二步 · 放大客单价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5528" y="2889504"/>
            <a:ext cx="29778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5528" y="3017520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收入结构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05528" y="3236976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硬件一次性销售 + ¥19-29 / 月「大脑订阅」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05528" y="3675888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模式验证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05528" y="3895344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「硬件 + 订阅内容」由跃然创新 BubblePal 验证（A 轮 2 亿元）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05528" y="4334256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转化逻辑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05528" y="4553712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软件用户自然转化为硬件用户，硬件反哺数据飞轮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32064" y="1901952"/>
            <a:ext cx="3489960" cy="3127248"/>
          </a:xfrm>
          <a:prstGeom prst="roundRect">
            <a:avLst>
              <a:gd name="adj" fmla="val 2632"/>
            </a:avLst>
          </a:prstGeom>
          <a:solidFill>
            <a:srgbClr val="EDF3EC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88096" y="2103120"/>
            <a:ext cx="2977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端机构 SaaS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388096" y="2505456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8096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第三步 · 渠道与背书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88096" y="2889504"/>
            <a:ext cx="29778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8096" y="3017520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产品形态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8096" y="3236976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康复机构的「AI 助教」：家庭延伸干预工具 + 师训支持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88096" y="3675888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收费方式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88096" y="3895344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按席位 / 机构年费授权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88096" y="4334256"/>
            <a:ext cx="2977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7C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战略价值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88096" y="4553712"/>
            <a:ext cx="2977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缓解 30 万人才缺口；一家机构 = 一个精准获客入口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5303520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5303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029968" y="5303520"/>
            <a:ext cx="9226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同一个孩子，家长在小程序里学方法，孩子在玩具上练方法，机构在后台看进展 —— 三个付费方，一套大脑，一份成本。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对标与验证：跃然创新（BubblePal）A 轮 2 亿元（中金领投，2025）；央视财经（2025-11）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MARKET &amp; COMPETITION · 市场与竞争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千亿家庭支出中的空白带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专业干预 × 家庭场景 × AI 个性化的三者交集，目前没有人占据。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9202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可服务市场（团队测算）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322576"/>
            <a:ext cx="4663440" cy="896112"/>
          </a:xfrm>
          <a:prstGeom prst="roundRect">
            <a:avLst>
              <a:gd name="adj" fmla="val 9184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4505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7066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亿元/年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44368" y="2414016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中国自闭症家庭康复干预总支出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3346704"/>
            <a:ext cx="4663440" cy="896112"/>
          </a:xfrm>
          <a:prstGeom prst="roundRect">
            <a:avLst>
              <a:gd name="adj" fmla="val 9184"/>
            </a:avLst>
          </a:prstGeom>
          <a:solidFill>
            <a:srgbClr val="FDF3E4"/>
          </a:solidFill>
          <a:ln w="12700">
            <a:solidFill>
              <a:srgbClr val="FDF3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474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3730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亿元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944368" y="3438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家庭端数字化干预 + AI 玩具交集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370832"/>
            <a:ext cx="4663440" cy="896112"/>
          </a:xfrm>
          <a:prstGeom prst="roundRect">
            <a:avLst>
              <a:gd name="adj" fmla="val 9184"/>
            </a:avLst>
          </a:prstGeom>
          <a:solidFill>
            <a:srgbClr val="EDF3EC"/>
          </a:solidFill>
          <a:ln w="12700">
            <a:solidFill>
              <a:srgbClr val="EDF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498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4754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亿元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944368" y="44622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年目标：10 万付费家庭 × 3000 元 ARPU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87568" y="1920240"/>
            <a:ext cx="5934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错位竞争格局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87568" y="2322576"/>
          <a:ext cx="5897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1143000"/>
                <a:gridCol w="1234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玩家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家庭场景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个性化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C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机构连锁（大米和小米等）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线上平台（恩启 / ALSOLIFE）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弱-中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 AI 玩具（BubblePal 等）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3786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星童猫咪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72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687568" y="4736592"/>
            <a:ext cx="5934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我们的位置：专家矩阵 + 循证库构成的专业性，档案级个性化，家庭即主场，硬件通路 —— 四者同时成立，才有这张桌子上的位置。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数据来源：中商产业研究院（2025）；智研咨询（2024-12）；TAM / SAM / SOM 为本团队基于公开数据的测算假设；竞争信息依据公开资料与产品实测整理（2026-08）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ROADMAP · 路线图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三年一万组家庭，每一步都有据可依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左侧是目标拆解，右侧是已经在手的里程碑 —— 我们不是从 PPT 出发，是从跑通的系统出发。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60350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6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0665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累计服务家庭数（年末口径）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24128" y="4389120"/>
            <a:ext cx="5120640" cy="0"/>
          </a:xfrm>
          <a:prstGeom prst="line">
            <a:avLst/>
          </a:prstGeom>
          <a:noFill/>
          <a:ln w="12700">
            <a:solidFill>
              <a:srgbClr val="DCD1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5258" y="4200754"/>
            <a:ext cx="841248" cy="188366"/>
          </a:xfrm>
          <a:prstGeom prst="rect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0938" y="390814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0938" y="44622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H2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00938" y="470001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7635" y="3824021"/>
            <a:ext cx="841248" cy="565099"/>
          </a:xfrm>
          <a:prstGeom prst="rect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3315" y="3531413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93315" y="44622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93315" y="470001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付费闭环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60013" y="3258922"/>
            <a:ext cx="841248" cy="1130198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5693" y="296631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85693" y="44622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85693" y="470001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硬件放量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52390" y="2505456"/>
            <a:ext cx="841248" cy="1883664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8070" y="22128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8070" y="446227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78070" y="470001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生态放大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931152" y="192024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达成一万时的来源构成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31152" y="2322576"/>
            <a:ext cx="469087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24140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77072" y="243230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机构渠道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50608" y="279806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家签约机构 × 平均 150 组在册家庭 × 40% 付费转化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31152" y="3273552"/>
            <a:ext cx="469087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3364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577072" y="338328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线上与口碑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50608" y="374904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小程序自然流量 + 家长社区口碑 + 内容获客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31152" y="4224528"/>
            <a:ext cx="4690872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EDE3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577072" y="433425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硬件首发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150608" y="4700016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小星玩具首批预售，软硬一体打包转化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" y="5358384"/>
            <a:ext cx="11055096" cy="1060704"/>
          </a:xfrm>
          <a:prstGeom prst="roundRect">
            <a:avLst>
              <a:gd name="adj" fmla="val 7759"/>
            </a:avLst>
          </a:prstGeom>
          <a:solidFill>
            <a:srgbClr val="EAF1F2"/>
          </a:solidFill>
          <a:ln w="9525">
            <a:solidFill>
              <a:srgbClr val="D5E4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5358384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已在手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029968" y="5358384"/>
            <a:ext cx="226085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M1 · 8 位专家 Agent 矩阵上线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382262" y="5358384"/>
            <a:ext cx="226085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M2 · 语音端到端链路打通（ASR→LLM→TTS）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34556" y="5358384"/>
            <a:ext cx="226085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M3 · 积分商业化与双登录上线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86850" y="5358384"/>
            <a:ext cx="226085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M4 · 云上生产部署套件就绪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6345936"/>
            <a:ext cx="1014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渠道规模与转化率为本团队测算假设，随试点数据滚动修正；里程碑状态来自仓库实测（2026-08）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ASK · 融资需求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本轮融资：把已验证的系统，放大到一万组家庭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软件已经跑通，硬件链路已经打通。这 300 万要买的不是探索，是放大。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17262A"/>
          </a:solidFill>
          <a:ln w="12700">
            <a:solidFill>
              <a:srgbClr val="172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39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" y="24505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0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048256" y="27614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7824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天使轮 · 出让 10%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77824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个月跑道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05072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资金用途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05072" y="2468880"/>
            <a:ext cx="1280160" cy="457200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85232" y="2468880"/>
            <a:ext cx="800100" cy="457200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468880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5332" y="2468880"/>
            <a:ext cx="64008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5332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5412" y="2468880"/>
            <a:ext cx="480060" cy="457200"/>
          </a:xfrm>
          <a:prstGeom prst="rect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5412" y="2468880"/>
            <a:ext cx="480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05072" y="3182112"/>
            <a:ext cx="164592" cy="164592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产品研发 40%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05072" y="3547872"/>
            <a:ext cx="164592" cy="164592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硬件供应链 25%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05072" y="3913632"/>
            <a:ext cx="164592" cy="1645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9392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内容与专家 20%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05072" y="4279392"/>
            <a:ext cx="164592" cy="164592"/>
          </a:xfrm>
          <a:prstGeom prst="rect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392" y="4224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市场运营 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16368" y="192024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C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个月里程碑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16368" y="23865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23042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小程序正式版上线，付费家庭达 1 万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516368" y="28437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90688" y="27614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 100 家康复机构，完成 SaaS 试点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516368" y="33009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0688" y="32186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玩具完成打样、3C 认证并开启预售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16368" y="3758184"/>
            <a:ext cx="146304" cy="146304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0688" y="3675888"/>
            <a:ext cx="3831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干预语料库与专家矩阵迭代至 V2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4443984"/>
            <a:ext cx="11055096" cy="0"/>
          </a:xfrm>
          <a:prstGeom prst="line">
            <a:avLst/>
          </a:prstGeom>
          <a:noFill/>
          <a:ln w="9525">
            <a:solidFill>
              <a:srgbClr val="DCD1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681728"/>
            <a:ext cx="2571750" cy="54864"/>
          </a:xfrm>
          <a:prstGeom prst="rect">
            <a:avLst/>
          </a:prstGeom>
          <a:solidFill>
            <a:srgbClr val="2F6C78"/>
          </a:solidFill>
          <a:ln w="12700">
            <a:solidFill>
              <a:srgbClr val="2F6C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产品研发 40%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6928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语音全双工升级 · 专家矩阵 V2 · 端侧选项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94710" y="4681728"/>
            <a:ext cx="2571750" cy="54864"/>
          </a:xfrm>
          <a:prstGeom prst="rect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4710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硬件供应链 25%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394710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小星打样 · 3C 认证 · 首批量产备货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22492" y="4681728"/>
            <a:ext cx="257175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2492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内容与专家网络 20%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222492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专家顾问团审校 · 语料库扩充 · 课程扩容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050274" y="4681728"/>
            <a:ext cx="2571750" cy="54864"/>
          </a:xfrm>
          <a:prstGeom prst="rect">
            <a:avLst/>
          </a:prstGeom>
          <a:solidFill>
            <a:srgbClr val="7FBEC7"/>
          </a:solidFill>
          <a:ln w="12700">
            <a:solidFill>
              <a:srgbClr val="7FBE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50274" y="4846320"/>
            <a:ext cx="2571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72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市场与运营 15%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050274" y="5138928"/>
            <a:ext cx="24803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83786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种子家庭运营 · 机构 BD · 内容获客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B9F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6583680" cy="6583680"/>
          </a:xfrm>
          <a:prstGeom prst="ellipse">
            <a:avLst/>
          </a:prstGeom>
          <a:solidFill>
            <a:srgbClr val="20343A"/>
          </a:solidFill>
          <a:ln w="12700">
            <a:solidFill>
              <a:srgbClr val="203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91840"/>
            <a:ext cx="6583680" cy="6583680"/>
          </a:xfrm>
          <a:prstGeom prst="ellipse">
            <a:avLst/>
          </a:prstGeom>
          <a:solidFill>
            <a:srgbClr val="20343A"/>
          </a:solidFill>
          <a:ln w="12700">
            <a:solidFill>
              <a:srgbClr val="20343A"/>
            </a:solidFill>
            <a:prstDash val="solid"/>
          </a:ln>
        </p:spPr>
      </p:sp>
      <p:pic>
        <p:nvPicPr>
          <p:cNvPr id="4" name="Image 0" descr="/Users/chenwanyi/Documents/kimi/tasks/2026-08-30/03-45-57-d69526cc/xingtong-cat/docs/deck/img/i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376" y="566928"/>
            <a:ext cx="1600200" cy="1490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1579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FBEC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A R E   ·   A U T I S M   T O G E T H E 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2688336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每一个星星的孩子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66928" y="3456432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8A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都值得被温柔以待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3717036" y="4517136"/>
            <a:ext cx="4754880" cy="0"/>
          </a:xfrm>
          <a:prstGeom prst="line">
            <a:avLst/>
          </a:prstGeom>
          <a:noFill/>
          <a:ln w="9525">
            <a:solidFill>
              <a:srgbClr val="2E46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548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星童猫咪 · 与 10,000 组家庭同行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5212080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2B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2 小时的专家在场，到 24 小时的温柔陪伴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5705856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D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Peter 张程 · +86 13159877586 / +852 44358635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01675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github.com/zhangcheng0688/xingtong-cat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073384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7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星童猫咪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星童猫咪 · 2026 商业计划书 v2</dc:title>
  <dc:subject>PptxGenJS Presentation</dc:subject>
  <dc:creator>星童猫咪团队</dc:creator>
  <cp:lastModifiedBy>星童猫咪团队</cp:lastModifiedBy>
  <cp:revision>1</cp:revision>
  <dcterms:created xsi:type="dcterms:W3CDTF">2026-09-01T14:09:55Z</dcterms:created>
  <dcterms:modified xsi:type="dcterms:W3CDTF">2026-09-01T14:09:55Z</dcterms:modified>
</cp:coreProperties>
</file>